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Framework Development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833E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E2E8F0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Complete</c:v>
                </c:pt>
                <c:pt idx="1">
                  <c:v>Remaining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48</c:v>
                </c:pt>
                <c:pt idx="1">
                  <c:v>52</c:v>
                </c:pt>
              </c:numCache>
            </c:numRef>
          </c:val>
        </c:ser>
        <c:firstSliceAng val="0"/>
        <c:holeSize val="72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Business Goal Development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77049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E2E8F0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Complete</c:v>
                </c:pt>
                <c:pt idx="1">
                  <c:v>Remaining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20</c:v>
                </c:pt>
                <c:pt idx="1">
                  <c:v>80</c:v>
                </c:pt>
              </c:numCache>
            </c:numRef>
          </c:val>
        </c:ser>
        <c:firstSliceAng val="0"/>
        <c:holeSize val="72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4" Type="http://schemas.openxmlformats.org/officeDocument/2006/relationships/chart" Target="/ppt/charts/chart2.xml"/><Relationship Id="rId1" Type="http://schemas.openxmlformats.org/officeDocument/2006/relationships/image" Target="../media/image-2-1.png"/><Relationship Id="rId3" Type="http://schemas.openxmlformats.org/officeDocument/2006/relationships/image" Target="../media/image-2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image" Target="../media/image-1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286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6FC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STATUS REVIEW  ·  Q2 – Q4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22960" y="26974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Data Platform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841248" y="37947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F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Development  &amp;  Business Goal Development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868680" y="4937760"/>
            <a:ext cx="237744" cy="237744"/>
          </a:xfrm>
          <a:prstGeom prst="ellipse">
            <a:avLst/>
          </a:prstGeom>
          <a:solidFill>
            <a:srgbClr val="B08D57"/>
          </a:solidFill>
          <a:ln/>
        </p:spPr>
      </p:sp>
      <p:sp>
        <p:nvSpPr>
          <p:cNvPr id="6" name="Text 4"/>
          <p:cNvSpPr/>
          <p:nvPr/>
        </p:nvSpPr>
        <p:spPr>
          <a:xfrm>
            <a:off x="1179576" y="490118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C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0" y="4937760"/>
            <a:ext cx="237744" cy="237744"/>
          </a:xfrm>
          <a:prstGeom prst="ellipse">
            <a:avLst/>
          </a:prstGeom>
          <a:solidFill>
            <a:srgbClr val="C0C0C0"/>
          </a:solidFill>
          <a:ln/>
        </p:spPr>
      </p:sp>
      <p:sp>
        <p:nvSpPr>
          <p:cNvPr id="8" name="Text 6"/>
          <p:cNvSpPr/>
          <p:nvPr/>
        </p:nvSpPr>
        <p:spPr>
          <a:xfrm>
            <a:off x="2596896" y="490118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C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703320" y="4937760"/>
            <a:ext cx="237744" cy="237744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0" name="Text 8"/>
          <p:cNvSpPr/>
          <p:nvPr/>
        </p:nvSpPr>
        <p:spPr>
          <a:xfrm>
            <a:off x="4014216" y="490118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C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5989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9FC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Northwest Bank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8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STATUS  ·  EXECUTIVE DASHBOARD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Framework Development leads at 48%; Business Goal Development is underway at 20%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68680" y="2057400"/>
            <a:ext cx="5257800" cy="4069080"/>
          </a:xfrm>
          <a:prstGeom prst="roundRect">
            <a:avLst>
              <a:gd name="adj" fmla="val 3146"/>
            </a:avLst>
          </a:prstGeom>
          <a:solidFill>
            <a:srgbClr val="F8FAFC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34440" y="2423160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3312" y="2542032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65960" y="2423160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Development</a:t>
            </a:r>
            <a:endParaRPr lang="en-US" sz="17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2308860" y="3200400"/>
          <a:ext cx="237744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2308860" y="38862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08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pPr algn="ctr" indent="0" marL="0">
              <a:buNone/>
            </a:pPr>
            <a:r>
              <a:rPr lang="en-US" sz="2200" b="1" dirty="0">
                <a:solidFill>
                  <a:srgbClr val="008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4600" dirty="0"/>
          </a:p>
        </p:txBody>
      </p:sp>
      <p:sp>
        <p:nvSpPr>
          <p:cNvPr id="10" name="Text 6"/>
          <p:cNvSpPr/>
          <p:nvPr/>
        </p:nvSpPr>
        <p:spPr>
          <a:xfrm>
            <a:off x="2308860" y="46817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1234440" y="5212080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completion
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Q3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035040" y="2057400"/>
            <a:ext cx="5257800" cy="4069080"/>
          </a:xfrm>
          <a:prstGeom prst="roundRect">
            <a:avLst>
              <a:gd name="adj" fmla="val 3146"/>
            </a:avLst>
          </a:prstGeom>
          <a:solidFill>
            <a:srgbClr val="F8FAFC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400800" y="2423160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9672" y="2542032"/>
            <a:ext cx="329184" cy="32918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132320" y="2423160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Goal Development</a:t>
            </a:r>
            <a:endParaRPr lang="en-US" sz="1700" dirty="0"/>
          </a:p>
        </p:txBody>
      </p:sp>
      <p:graphicFrame>
        <p:nvGraphicFramePr>
          <p:cNvPr id="16" name="Chart 1" descr=""/>
          <p:cNvGraphicFramePr/>
          <p:nvPr/>
        </p:nvGraphicFramePr>
        <p:xfrm>
          <a:off x="7475220" y="3200400"/>
          <a:ext cx="237744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Text 11"/>
          <p:cNvSpPr/>
          <p:nvPr/>
        </p:nvSpPr>
        <p:spPr>
          <a:xfrm>
            <a:off x="7475220" y="38862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77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pPr algn="ctr" indent="0" marL="0">
              <a:buNone/>
            </a:pPr>
            <a:r>
              <a:rPr lang="en-US" sz="2200" b="1" dirty="0">
                <a:solidFill>
                  <a:srgbClr val="177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4600" dirty="0"/>
          </a:p>
        </p:txBody>
      </p:sp>
      <p:sp>
        <p:nvSpPr>
          <p:cNvPr id="18" name="Text 12"/>
          <p:cNvSpPr/>
          <p:nvPr/>
        </p:nvSpPr>
        <p:spPr>
          <a:xfrm>
            <a:off x="7475220" y="46817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6400800" y="5212080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through end of Q4
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sub-projects in flight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8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ROADMAP  ·  Q2 – Q4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Framework Development completes in Q3; Business Goal Development extends through Q4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840480" y="1508760"/>
            <a:ext cx="7772400" cy="384048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5" name="Text 3"/>
          <p:cNvSpPr/>
          <p:nvPr/>
        </p:nvSpPr>
        <p:spPr>
          <a:xfrm>
            <a:off x="3840480" y="1508760"/>
            <a:ext cx="259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31280" y="1508760"/>
            <a:ext cx="259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022080" y="1508760"/>
            <a:ext cx="259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840480" y="1874520"/>
            <a:ext cx="0" cy="448056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31280" y="1874520"/>
            <a:ext cx="0" cy="448056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9022080" y="1874520"/>
            <a:ext cx="0" cy="448056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11612880" y="1874520"/>
            <a:ext cx="0" cy="448056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874520"/>
            <a:ext cx="32004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Development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3840480" y="2112264"/>
            <a:ext cx="5181600" cy="420624"/>
          </a:xfrm>
          <a:prstGeom prst="roundRect">
            <a:avLst>
              <a:gd name="adj" fmla="val 15217"/>
            </a:avLst>
          </a:prstGeom>
          <a:solidFill>
            <a:srgbClr val="00833E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840480" y="2770632"/>
            <a:ext cx="7772400" cy="896112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770632"/>
            <a:ext cx="32004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Goal Development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135880" y="3008376"/>
            <a:ext cx="6477000" cy="420624"/>
          </a:xfrm>
          <a:prstGeom prst="roundRect">
            <a:avLst>
              <a:gd name="adj" fmla="val 15217"/>
            </a:avLst>
          </a:prstGeom>
          <a:solidFill>
            <a:srgbClr val="177049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60120" y="3666744"/>
            <a:ext cx="2788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Admin Data &amp; Reporting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31280" y="3904488"/>
            <a:ext cx="2590800" cy="420624"/>
          </a:xfrm>
          <a:prstGeom prst="roundRect">
            <a:avLst>
              <a:gd name="adj" fmla="val 15217"/>
            </a:avLst>
          </a:prstGeom>
          <a:solidFill>
            <a:srgbClr val="6FC79A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840480" y="4562856"/>
            <a:ext cx="7772400" cy="896112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4562856"/>
            <a:ext cx="2788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360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135880" y="4800600"/>
            <a:ext cx="6477000" cy="420624"/>
          </a:xfrm>
          <a:prstGeom prst="roundRect">
            <a:avLst>
              <a:gd name="adj" fmla="val 15217"/>
            </a:avLst>
          </a:prstGeom>
          <a:solidFill>
            <a:srgbClr val="6FC79A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60120" y="5458968"/>
            <a:ext cx="2788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Archer V1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135880" y="5696712"/>
            <a:ext cx="1295400" cy="420624"/>
          </a:xfrm>
          <a:prstGeom prst="roundRect">
            <a:avLst>
              <a:gd name="adj" fmla="val 15217"/>
            </a:avLst>
          </a:prstGeom>
          <a:solidFill>
            <a:srgbClr val="6FC79A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31280" y="1874520"/>
            <a:ext cx="0" cy="448056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9022080" y="1874520"/>
            <a:ext cx="0" cy="448056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3840480" y="6492240"/>
            <a:ext cx="256032" cy="164592"/>
          </a:xfrm>
          <a:prstGeom prst="roundRect">
            <a:avLst>
              <a:gd name="adj" fmla="val 22222"/>
            </a:avLst>
          </a:prstGeom>
          <a:solidFill>
            <a:srgbClr val="00833E"/>
          </a:solidFill>
          <a:ln/>
        </p:spPr>
      </p:sp>
      <p:sp>
        <p:nvSpPr>
          <p:cNvPr id="27" name="Text 25"/>
          <p:cNvSpPr/>
          <p:nvPr/>
        </p:nvSpPr>
        <p:spPr>
          <a:xfrm>
            <a:off x="4169664" y="642823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Development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283757" y="6492240"/>
            <a:ext cx="256032" cy="164592"/>
          </a:xfrm>
          <a:prstGeom prst="roundRect">
            <a:avLst>
              <a:gd name="adj" fmla="val 22222"/>
            </a:avLst>
          </a:prstGeom>
          <a:solidFill>
            <a:srgbClr val="177049"/>
          </a:solidFill>
          <a:ln/>
        </p:spPr>
      </p:sp>
      <p:sp>
        <p:nvSpPr>
          <p:cNvPr id="29" name="Text 27"/>
          <p:cNvSpPr/>
          <p:nvPr/>
        </p:nvSpPr>
        <p:spPr>
          <a:xfrm>
            <a:off x="6612941" y="642823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Goal Development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9026957" y="6492240"/>
            <a:ext cx="256032" cy="164592"/>
          </a:xfrm>
          <a:prstGeom prst="roundRect">
            <a:avLst>
              <a:gd name="adj" fmla="val 22222"/>
            </a:avLst>
          </a:prstGeom>
          <a:solidFill>
            <a:srgbClr val="6FC79A"/>
          </a:solidFill>
          <a:ln/>
        </p:spPr>
      </p:sp>
      <p:sp>
        <p:nvSpPr>
          <p:cNvPr id="31" name="Text 29"/>
          <p:cNvSpPr/>
          <p:nvPr/>
        </p:nvSpPr>
        <p:spPr>
          <a:xfrm>
            <a:off x="9356141" y="642823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Sub-project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0083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822960" y="32004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Framework Development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41248" y="4069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reusable data factory — ingestion, transformation, governance, delivery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68680" y="4800600"/>
            <a:ext cx="2651760" cy="914400"/>
          </a:xfrm>
          <a:prstGeom prst="roundRect">
            <a:avLst>
              <a:gd name="adj" fmla="val 10000"/>
            </a:avLst>
          </a:prstGeom>
          <a:solidFill>
            <a:srgbClr val="12533C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48920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FC7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48%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069848" y="534924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complete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4800600"/>
            <a:ext cx="2651760" cy="914400"/>
          </a:xfrm>
          <a:prstGeom prst="roundRect">
            <a:avLst>
              <a:gd name="adj" fmla="val 10000"/>
            </a:avLst>
          </a:prstGeom>
          <a:solidFill>
            <a:srgbClr val="12533C"/>
          </a:solidFill>
          <a:ln/>
        </p:spPr>
      </p:sp>
      <p:sp>
        <p:nvSpPr>
          <p:cNvPr id="9" name="Text 7"/>
          <p:cNvSpPr/>
          <p:nvPr/>
        </p:nvSpPr>
        <p:spPr>
          <a:xfrm>
            <a:off x="3840480" y="48920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FC7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858768" y="534924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46520" y="4800600"/>
            <a:ext cx="2651760" cy="914400"/>
          </a:xfrm>
          <a:prstGeom prst="roundRect">
            <a:avLst>
              <a:gd name="adj" fmla="val 10000"/>
            </a:avLst>
          </a:prstGeom>
          <a:solidFill>
            <a:srgbClr val="12533C"/>
          </a:solidFill>
          <a:ln/>
        </p:spPr>
      </p:sp>
      <p:sp>
        <p:nvSpPr>
          <p:cNvPr id="12" name="Text 10"/>
          <p:cNvSpPr/>
          <p:nvPr/>
        </p:nvSpPr>
        <p:spPr>
          <a:xfrm>
            <a:off x="6629400" y="48920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FC7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647688" y="534924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8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DEVELOPMENT  ·  PROGRAM BOARD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Thirteen frameworks: four complete, six in progress, three not started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9281160" y="384048"/>
            <a:ext cx="2331720" cy="713232"/>
          </a:xfrm>
          <a:prstGeom prst="roundRect">
            <a:avLst>
              <a:gd name="adj" fmla="val 12821"/>
            </a:avLst>
          </a:prstGeom>
          <a:solidFill>
            <a:srgbClr val="0B3D2E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2328" y="576072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939528" y="384048"/>
            <a:ext cx="1600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FB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COMPLETION
</a:t>
            </a:r>
            <a:endParaRPr lang="en-US" sz="85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Q3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457200" y="1783080"/>
            <a:ext cx="3630168" cy="384048"/>
          </a:xfrm>
          <a:prstGeom prst="roundRect">
            <a:avLst>
              <a:gd name="adj" fmla="val 19048"/>
            </a:avLst>
          </a:prstGeom>
          <a:solidFill>
            <a:srgbClr val="16A34A"/>
          </a:solidFill>
          <a:ln/>
        </p:spPr>
      </p:sp>
      <p:sp>
        <p:nvSpPr>
          <p:cNvPr id="8" name="Text 5"/>
          <p:cNvSpPr/>
          <p:nvPr/>
        </p:nvSpPr>
        <p:spPr>
          <a:xfrm>
            <a:off x="594360" y="1783080"/>
            <a:ext cx="3355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  </a:t>
            </a:r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2331720"/>
            <a:ext cx="3630168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03504" y="2404872"/>
            <a:ext cx="33375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Layer Framework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03504" y="2907792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Complete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3346704"/>
            <a:ext cx="3630168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03504" y="3419856"/>
            <a:ext cx="33375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Framework — Bronze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03504" y="3922776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Complete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57200" y="4361688"/>
            <a:ext cx="3630168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03504" y="4434840"/>
            <a:ext cx="33375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Framework — Silver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603504" y="4937760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Complete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57200" y="5376672"/>
            <a:ext cx="3630168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03504" y="5449824"/>
            <a:ext cx="33375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Controller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603504" y="5952744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Complete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270248" y="1783080"/>
            <a:ext cx="3630168" cy="384048"/>
          </a:xfrm>
          <a:prstGeom prst="roundRect">
            <a:avLst>
              <a:gd name="adj" fmla="val 19048"/>
            </a:avLst>
          </a:prstGeom>
          <a:solidFill>
            <a:srgbClr val="D97706"/>
          </a:solidFill>
          <a:ln/>
        </p:spPr>
      </p:sp>
      <p:sp>
        <p:nvSpPr>
          <p:cNvPr id="22" name="Text 19"/>
          <p:cNvSpPr/>
          <p:nvPr/>
        </p:nvSpPr>
        <p:spPr>
          <a:xfrm>
            <a:off x="4407408" y="1783080"/>
            <a:ext cx="3355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   </a:t>
            </a:r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270248" y="2331720"/>
            <a:ext cx="3630168" cy="563880"/>
          </a:xfrm>
          <a:prstGeom prst="roundRect">
            <a:avLst>
              <a:gd name="adj" fmla="val 12973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4416552" y="2404872"/>
            <a:ext cx="3337560" cy="179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 Framework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416552" y="2639568"/>
            <a:ext cx="2834640" cy="128016"/>
          </a:xfrm>
          <a:prstGeom prst="roundRect">
            <a:avLst>
              <a:gd name="adj" fmla="val 35714"/>
            </a:avLst>
          </a:prstGeom>
          <a:solidFill>
            <a:srgbClr val="E5E9F0"/>
          </a:solidFill>
          <a:ln/>
        </p:spPr>
      </p:sp>
      <p:sp>
        <p:nvSpPr>
          <p:cNvPr id="26" name="Shape 23"/>
          <p:cNvSpPr/>
          <p:nvPr/>
        </p:nvSpPr>
        <p:spPr>
          <a:xfrm>
            <a:off x="4416552" y="2639568"/>
            <a:ext cx="1502359" cy="128016"/>
          </a:xfrm>
          <a:prstGeom prst="roundRect">
            <a:avLst>
              <a:gd name="adj" fmla="val 35714"/>
            </a:avLst>
          </a:prstGeom>
          <a:solidFill>
            <a:srgbClr val="D97706"/>
          </a:solidFill>
          <a:ln/>
        </p:spPr>
      </p:sp>
      <p:sp>
        <p:nvSpPr>
          <p:cNvPr id="27" name="Text 24"/>
          <p:cNvSpPr/>
          <p:nvPr/>
        </p:nvSpPr>
        <p:spPr>
          <a:xfrm>
            <a:off x="7306056" y="252984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53%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4270248" y="3041904"/>
            <a:ext cx="3630168" cy="563880"/>
          </a:xfrm>
          <a:prstGeom prst="roundRect">
            <a:avLst>
              <a:gd name="adj" fmla="val 12973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4416552" y="3115056"/>
            <a:ext cx="3337560" cy="179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Framework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4416552" y="3349752"/>
            <a:ext cx="2834640" cy="128016"/>
          </a:xfrm>
          <a:prstGeom prst="roundRect">
            <a:avLst>
              <a:gd name="adj" fmla="val 35714"/>
            </a:avLst>
          </a:prstGeom>
          <a:solidFill>
            <a:srgbClr val="E5E9F0"/>
          </a:solidFill>
          <a:ln/>
        </p:spPr>
      </p:sp>
      <p:sp>
        <p:nvSpPr>
          <p:cNvPr id="31" name="Shape 28"/>
          <p:cNvSpPr/>
          <p:nvPr/>
        </p:nvSpPr>
        <p:spPr>
          <a:xfrm>
            <a:off x="4416552" y="3349752"/>
            <a:ext cx="1984248" cy="128016"/>
          </a:xfrm>
          <a:prstGeom prst="roundRect">
            <a:avLst>
              <a:gd name="adj" fmla="val 35714"/>
            </a:avLst>
          </a:prstGeom>
          <a:solidFill>
            <a:srgbClr val="D97706"/>
          </a:solidFill>
          <a:ln/>
        </p:spPr>
      </p:sp>
      <p:sp>
        <p:nvSpPr>
          <p:cNvPr id="32" name="Text 29"/>
          <p:cNvSpPr/>
          <p:nvPr/>
        </p:nvSpPr>
        <p:spPr>
          <a:xfrm>
            <a:off x="7306056" y="32400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4270248" y="3752088"/>
            <a:ext cx="3630168" cy="563880"/>
          </a:xfrm>
          <a:prstGeom prst="roundRect">
            <a:avLst>
              <a:gd name="adj" fmla="val 12973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4416552" y="3825240"/>
            <a:ext cx="3337560" cy="179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Framework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4416552" y="4059936"/>
            <a:ext cx="2834640" cy="128016"/>
          </a:xfrm>
          <a:prstGeom prst="roundRect">
            <a:avLst>
              <a:gd name="adj" fmla="val 35714"/>
            </a:avLst>
          </a:prstGeom>
          <a:solidFill>
            <a:srgbClr val="E5E9F0"/>
          </a:solidFill>
          <a:ln/>
        </p:spPr>
      </p:sp>
      <p:sp>
        <p:nvSpPr>
          <p:cNvPr id="36" name="Shape 33"/>
          <p:cNvSpPr/>
          <p:nvPr/>
        </p:nvSpPr>
        <p:spPr>
          <a:xfrm>
            <a:off x="4416552" y="4059936"/>
            <a:ext cx="1133856" cy="128016"/>
          </a:xfrm>
          <a:prstGeom prst="roundRect">
            <a:avLst>
              <a:gd name="adj" fmla="val 35714"/>
            </a:avLst>
          </a:prstGeom>
          <a:solidFill>
            <a:srgbClr val="D97706"/>
          </a:solidFill>
          <a:ln/>
        </p:spPr>
      </p:sp>
      <p:sp>
        <p:nvSpPr>
          <p:cNvPr id="37" name="Text 34"/>
          <p:cNvSpPr/>
          <p:nvPr/>
        </p:nvSpPr>
        <p:spPr>
          <a:xfrm>
            <a:off x="7306056" y="395020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4270248" y="4462272"/>
            <a:ext cx="3630168" cy="563880"/>
          </a:xfrm>
          <a:prstGeom prst="roundRect">
            <a:avLst>
              <a:gd name="adj" fmla="val 12973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39" name="Text 36"/>
          <p:cNvSpPr/>
          <p:nvPr/>
        </p:nvSpPr>
        <p:spPr>
          <a:xfrm>
            <a:off x="4416552" y="4535424"/>
            <a:ext cx="3337560" cy="179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/ UAT / Prod Setup</a:t>
            </a:r>
            <a:endParaRPr lang="en-US" sz="1050" dirty="0"/>
          </a:p>
        </p:txBody>
      </p:sp>
      <p:sp>
        <p:nvSpPr>
          <p:cNvPr id="40" name="Shape 37"/>
          <p:cNvSpPr/>
          <p:nvPr/>
        </p:nvSpPr>
        <p:spPr>
          <a:xfrm>
            <a:off x="4416552" y="4770120"/>
            <a:ext cx="2834640" cy="128016"/>
          </a:xfrm>
          <a:prstGeom prst="roundRect">
            <a:avLst>
              <a:gd name="adj" fmla="val 35714"/>
            </a:avLst>
          </a:prstGeom>
          <a:solidFill>
            <a:srgbClr val="E5E9F0"/>
          </a:solidFill>
          <a:ln/>
        </p:spPr>
      </p:sp>
      <p:sp>
        <p:nvSpPr>
          <p:cNvPr id="41" name="Shape 38"/>
          <p:cNvSpPr/>
          <p:nvPr/>
        </p:nvSpPr>
        <p:spPr>
          <a:xfrm>
            <a:off x="4416552" y="4770120"/>
            <a:ext cx="1700784" cy="128016"/>
          </a:xfrm>
          <a:prstGeom prst="roundRect">
            <a:avLst>
              <a:gd name="adj" fmla="val 35714"/>
            </a:avLst>
          </a:prstGeom>
          <a:solidFill>
            <a:srgbClr val="D97706"/>
          </a:solidFill>
          <a:ln/>
        </p:spPr>
      </p:sp>
      <p:sp>
        <p:nvSpPr>
          <p:cNvPr id="42" name="Text 39"/>
          <p:cNvSpPr/>
          <p:nvPr/>
        </p:nvSpPr>
        <p:spPr>
          <a:xfrm>
            <a:off x="7306056" y="4660392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4270248" y="5172456"/>
            <a:ext cx="3630168" cy="563880"/>
          </a:xfrm>
          <a:prstGeom prst="roundRect">
            <a:avLst>
              <a:gd name="adj" fmla="val 12973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44" name="Text 41"/>
          <p:cNvSpPr/>
          <p:nvPr/>
        </p:nvSpPr>
        <p:spPr>
          <a:xfrm>
            <a:off x="4416552" y="5245608"/>
            <a:ext cx="3337560" cy="179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Framework</a:t>
            </a:r>
            <a:endParaRPr lang="en-US" sz="1050" dirty="0"/>
          </a:p>
        </p:txBody>
      </p:sp>
      <p:sp>
        <p:nvSpPr>
          <p:cNvPr id="45" name="Shape 42"/>
          <p:cNvSpPr/>
          <p:nvPr/>
        </p:nvSpPr>
        <p:spPr>
          <a:xfrm>
            <a:off x="4416552" y="5480304"/>
            <a:ext cx="2834640" cy="128016"/>
          </a:xfrm>
          <a:prstGeom prst="roundRect">
            <a:avLst>
              <a:gd name="adj" fmla="val 35714"/>
            </a:avLst>
          </a:prstGeom>
          <a:solidFill>
            <a:srgbClr val="E5E9F0"/>
          </a:solidFill>
          <a:ln/>
        </p:spPr>
      </p:sp>
      <p:sp>
        <p:nvSpPr>
          <p:cNvPr id="46" name="Shape 43"/>
          <p:cNvSpPr/>
          <p:nvPr/>
        </p:nvSpPr>
        <p:spPr>
          <a:xfrm>
            <a:off x="4416552" y="5480304"/>
            <a:ext cx="1360627" cy="128016"/>
          </a:xfrm>
          <a:prstGeom prst="roundRect">
            <a:avLst>
              <a:gd name="adj" fmla="val 35714"/>
            </a:avLst>
          </a:prstGeom>
          <a:solidFill>
            <a:srgbClr val="D97706"/>
          </a:solidFill>
          <a:ln/>
        </p:spPr>
      </p:sp>
      <p:sp>
        <p:nvSpPr>
          <p:cNvPr id="47" name="Text 44"/>
          <p:cNvSpPr/>
          <p:nvPr/>
        </p:nvSpPr>
        <p:spPr>
          <a:xfrm>
            <a:off x="7306056" y="5370576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48%</a:t>
            </a:r>
            <a:endParaRPr lang="en-US" sz="1100" dirty="0"/>
          </a:p>
        </p:txBody>
      </p:sp>
      <p:sp>
        <p:nvSpPr>
          <p:cNvPr id="48" name="Shape 45"/>
          <p:cNvSpPr/>
          <p:nvPr/>
        </p:nvSpPr>
        <p:spPr>
          <a:xfrm>
            <a:off x="4270248" y="5882640"/>
            <a:ext cx="3630168" cy="563880"/>
          </a:xfrm>
          <a:prstGeom prst="roundRect">
            <a:avLst>
              <a:gd name="adj" fmla="val 12973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49" name="Text 46"/>
          <p:cNvSpPr/>
          <p:nvPr/>
        </p:nvSpPr>
        <p:spPr>
          <a:xfrm>
            <a:off x="4416552" y="5955792"/>
            <a:ext cx="3337560" cy="179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Sources → SFTP</a:t>
            </a:r>
            <a:endParaRPr lang="en-US" sz="1050" dirty="0"/>
          </a:p>
        </p:txBody>
      </p:sp>
      <p:sp>
        <p:nvSpPr>
          <p:cNvPr id="50" name="Shape 47"/>
          <p:cNvSpPr/>
          <p:nvPr/>
        </p:nvSpPr>
        <p:spPr>
          <a:xfrm>
            <a:off x="4416552" y="6190488"/>
            <a:ext cx="2834640" cy="128016"/>
          </a:xfrm>
          <a:prstGeom prst="roundRect">
            <a:avLst>
              <a:gd name="adj" fmla="val 35714"/>
            </a:avLst>
          </a:prstGeom>
          <a:solidFill>
            <a:srgbClr val="E5E9F0"/>
          </a:solidFill>
          <a:ln/>
        </p:spPr>
      </p:sp>
      <p:sp>
        <p:nvSpPr>
          <p:cNvPr id="51" name="Shape 48"/>
          <p:cNvSpPr/>
          <p:nvPr/>
        </p:nvSpPr>
        <p:spPr>
          <a:xfrm>
            <a:off x="4416552" y="6190488"/>
            <a:ext cx="1417320" cy="128016"/>
          </a:xfrm>
          <a:prstGeom prst="roundRect">
            <a:avLst>
              <a:gd name="adj" fmla="val 35714"/>
            </a:avLst>
          </a:prstGeom>
          <a:solidFill>
            <a:srgbClr val="D97706"/>
          </a:solidFill>
          <a:ln/>
        </p:spPr>
      </p:sp>
      <p:sp>
        <p:nvSpPr>
          <p:cNvPr id="52" name="Text 49"/>
          <p:cNvSpPr/>
          <p:nvPr/>
        </p:nvSpPr>
        <p:spPr>
          <a:xfrm>
            <a:off x="7306056" y="608076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8083296" y="1783080"/>
            <a:ext cx="3630168" cy="384048"/>
          </a:xfrm>
          <a:prstGeom prst="roundRect">
            <a:avLst>
              <a:gd name="adj" fmla="val 19048"/>
            </a:avLst>
          </a:prstGeom>
          <a:solidFill>
            <a:srgbClr val="94A3B8"/>
          </a:solidFill>
          <a:ln/>
        </p:spPr>
      </p:sp>
      <p:sp>
        <p:nvSpPr>
          <p:cNvPr id="54" name="Text 51"/>
          <p:cNvSpPr/>
          <p:nvPr/>
        </p:nvSpPr>
        <p:spPr>
          <a:xfrm>
            <a:off x="8220456" y="1783080"/>
            <a:ext cx="3355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STARTED   </a:t>
            </a:r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55" name="Shape 52"/>
          <p:cNvSpPr/>
          <p:nvPr/>
        </p:nvSpPr>
        <p:spPr>
          <a:xfrm>
            <a:off x="8083296" y="2331720"/>
            <a:ext cx="3630168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6" name="Text 53"/>
          <p:cNvSpPr/>
          <p:nvPr/>
        </p:nvSpPr>
        <p:spPr>
          <a:xfrm>
            <a:off x="8229600" y="2404872"/>
            <a:ext cx="33375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Framework</a:t>
            </a:r>
            <a:endParaRPr lang="en-US" sz="1050" dirty="0"/>
          </a:p>
        </p:txBody>
      </p:sp>
      <p:sp>
        <p:nvSpPr>
          <p:cNvPr id="57" name="Text 54"/>
          <p:cNvSpPr/>
          <p:nvPr/>
        </p:nvSpPr>
        <p:spPr>
          <a:xfrm>
            <a:off x="8229600" y="2907792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started</a:t>
            </a:r>
            <a:endParaRPr lang="en-US" sz="1000" dirty="0"/>
          </a:p>
        </p:txBody>
      </p:sp>
      <p:sp>
        <p:nvSpPr>
          <p:cNvPr id="58" name="Shape 55"/>
          <p:cNvSpPr/>
          <p:nvPr/>
        </p:nvSpPr>
        <p:spPr>
          <a:xfrm>
            <a:off x="8083296" y="3346704"/>
            <a:ext cx="3630168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9" name="Text 56"/>
          <p:cNvSpPr/>
          <p:nvPr/>
        </p:nvSpPr>
        <p:spPr>
          <a:xfrm>
            <a:off x="8229600" y="3419856"/>
            <a:ext cx="33375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 Framework</a:t>
            </a:r>
            <a:endParaRPr lang="en-US" sz="1050" dirty="0"/>
          </a:p>
        </p:txBody>
      </p:sp>
      <p:sp>
        <p:nvSpPr>
          <p:cNvPr id="60" name="Text 57"/>
          <p:cNvSpPr/>
          <p:nvPr/>
        </p:nvSpPr>
        <p:spPr>
          <a:xfrm>
            <a:off x="8229600" y="3922776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started</a:t>
            </a:r>
            <a:endParaRPr lang="en-US" sz="1000" dirty="0"/>
          </a:p>
        </p:txBody>
      </p:sp>
      <p:sp>
        <p:nvSpPr>
          <p:cNvPr id="61" name="Shape 58"/>
          <p:cNvSpPr/>
          <p:nvPr/>
        </p:nvSpPr>
        <p:spPr>
          <a:xfrm>
            <a:off x="8083296" y="4361688"/>
            <a:ext cx="3630168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2" name="Text 59"/>
          <p:cNvSpPr/>
          <p:nvPr/>
        </p:nvSpPr>
        <p:spPr>
          <a:xfrm>
            <a:off x="8229600" y="4434840"/>
            <a:ext cx="33375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Framework</a:t>
            </a:r>
            <a:endParaRPr lang="en-US" sz="1050" dirty="0"/>
          </a:p>
        </p:txBody>
      </p:sp>
      <p:sp>
        <p:nvSpPr>
          <p:cNvPr id="63" name="Text 60"/>
          <p:cNvSpPr/>
          <p:nvPr/>
        </p:nvSpPr>
        <p:spPr>
          <a:xfrm>
            <a:off x="8229600" y="4937760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started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8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DEVELOPMENT  ·  PHASE TRACKER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Phase-by-phase status for the six in-flight frameworks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9281160" y="384048"/>
            <a:ext cx="2331720" cy="713232"/>
          </a:xfrm>
          <a:prstGeom prst="roundRect">
            <a:avLst>
              <a:gd name="adj" fmla="val 12821"/>
            </a:avLst>
          </a:prstGeom>
          <a:solidFill>
            <a:srgbClr val="0B3D2E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2328" y="576072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939528" y="384048"/>
            <a:ext cx="1600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FB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COMPLETION
</a:t>
            </a:r>
            <a:endParaRPr lang="en-US" sz="85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Q3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66928" y="1389888"/>
            <a:ext cx="237744" cy="164592"/>
          </a:xfrm>
          <a:prstGeom prst="roundRect">
            <a:avLst>
              <a:gd name="adj" fmla="val 22222"/>
            </a:avLst>
          </a:prstGeom>
          <a:solidFill>
            <a:srgbClr val="16A34A"/>
          </a:solidFill>
          <a:ln/>
        </p:spPr>
      </p:sp>
      <p:sp>
        <p:nvSpPr>
          <p:cNvPr id="8" name="Text 5"/>
          <p:cNvSpPr/>
          <p:nvPr/>
        </p:nvSpPr>
        <p:spPr>
          <a:xfrm>
            <a:off x="877824" y="131673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1861718" y="1389888"/>
            <a:ext cx="237744" cy="164592"/>
          </a:xfrm>
          <a:prstGeom prst="roundRect">
            <a:avLst>
              <a:gd name="adj" fmla="val 22222"/>
            </a:avLst>
          </a:prstGeom>
          <a:solidFill>
            <a:srgbClr val="D97706"/>
          </a:solidFill>
          <a:ln/>
        </p:spPr>
      </p:sp>
      <p:sp>
        <p:nvSpPr>
          <p:cNvPr id="10" name="Text 7"/>
          <p:cNvSpPr/>
          <p:nvPr/>
        </p:nvSpPr>
        <p:spPr>
          <a:xfrm>
            <a:off x="2172614" y="131673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354019" y="1389888"/>
            <a:ext cx="237744" cy="164592"/>
          </a:xfrm>
          <a:prstGeom prst="roundRect">
            <a:avLst>
              <a:gd name="adj" fmla="val 22222"/>
            </a:avLst>
          </a:prstGeom>
          <a:solidFill>
            <a:srgbClr val="E5E9F0"/>
          </a:solidFill>
          <a:ln/>
        </p:spPr>
      </p:sp>
      <p:sp>
        <p:nvSpPr>
          <p:cNvPr id="12" name="Text 9"/>
          <p:cNvSpPr/>
          <p:nvPr/>
        </p:nvSpPr>
        <p:spPr>
          <a:xfrm>
            <a:off x="3664915" y="131673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started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846320" y="1389888"/>
            <a:ext cx="237744" cy="164592"/>
          </a:xfrm>
          <a:prstGeom prst="roundRect">
            <a:avLst>
              <a:gd name="adj" fmla="val 22222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dash"/>
          </a:ln>
        </p:spPr>
      </p:sp>
      <p:sp>
        <p:nvSpPr>
          <p:cNvPr id="14" name="Text 11"/>
          <p:cNvSpPr/>
          <p:nvPr/>
        </p:nvSpPr>
        <p:spPr>
          <a:xfrm>
            <a:off x="5157216" y="131673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review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48640" y="1783080"/>
            <a:ext cx="219456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 Framework
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53% complete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2880360" y="1905000"/>
            <a:ext cx="932688" cy="548640"/>
          </a:xfrm>
          <a:prstGeom prst="roundRect">
            <a:avLst>
              <a:gd name="adj" fmla="val 10000"/>
            </a:avLst>
          </a:prstGeom>
          <a:solidFill>
            <a:srgbClr val="D97706"/>
          </a:solidFill>
          <a:ln/>
        </p:spPr>
      </p:sp>
      <p:sp>
        <p:nvSpPr>
          <p:cNvPr id="17" name="Text 14"/>
          <p:cNvSpPr/>
          <p:nvPr/>
        </p:nvSpPr>
        <p:spPr>
          <a:xfrm>
            <a:off x="2916936" y="1932432"/>
            <a:ext cx="8595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&amp; Governance</a:t>
            </a:r>
            <a:endParaRPr lang="en-US" sz="74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7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740" dirty="0"/>
          </a:p>
        </p:txBody>
      </p:sp>
      <p:sp>
        <p:nvSpPr>
          <p:cNvPr id="18" name="Shape 15"/>
          <p:cNvSpPr/>
          <p:nvPr/>
        </p:nvSpPr>
        <p:spPr>
          <a:xfrm>
            <a:off x="3877056" y="1905000"/>
            <a:ext cx="932688" cy="548640"/>
          </a:xfrm>
          <a:prstGeom prst="roundRect">
            <a:avLst>
              <a:gd name="adj" fmla="val 10000"/>
            </a:avLst>
          </a:prstGeom>
          <a:solidFill>
            <a:srgbClr val="16A34A"/>
          </a:solidFill>
          <a:ln/>
        </p:spPr>
      </p:sp>
      <p:sp>
        <p:nvSpPr>
          <p:cNvPr id="19" name="Text 16"/>
          <p:cNvSpPr/>
          <p:nvPr/>
        </p:nvSpPr>
        <p:spPr>
          <a:xfrm>
            <a:off x="3913632" y="1932432"/>
            <a:ext cx="8595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Packaging &amp; Artifacts</a:t>
            </a:r>
            <a:endParaRPr lang="en-US" sz="740" dirty="0"/>
          </a:p>
        </p:txBody>
      </p:sp>
      <p:sp>
        <p:nvSpPr>
          <p:cNvPr id="20" name="Shape 17"/>
          <p:cNvSpPr/>
          <p:nvPr/>
        </p:nvSpPr>
        <p:spPr>
          <a:xfrm>
            <a:off x="4873752" y="1905000"/>
            <a:ext cx="932688" cy="548640"/>
          </a:xfrm>
          <a:prstGeom prst="roundRect">
            <a:avLst>
              <a:gd name="adj" fmla="val 10000"/>
            </a:avLst>
          </a:prstGeom>
          <a:solidFill>
            <a:srgbClr val="16A34A"/>
          </a:solidFill>
          <a:ln/>
        </p:spPr>
      </p:sp>
      <p:sp>
        <p:nvSpPr>
          <p:cNvPr id="21" name="Text 18"/>
          <p:cNvSpPr/>
          <p:nvPr/>
        </p:nvSpPr>
        <p:spPr>
          <a:xfrm>
            <a:off x="4910328" y="1932432"/>
            <a:ext cx="8595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CI</a:t>
            </a:r>
            <a:endParaRPr lang="en-US" sz="740" dirty="0"/>
          </a:p>
        </p:txBody>
      </p:sp>
      <p:sp>
        <p:nvSpPr>
          <p:cNvPr id="22" name="Shape 19"/>
          <p:cNvSpPr/>
          <p:nvPr/>
        </p:nvSpPr>
        <p:spPr>
          <a:xfrm>
            <a:off x="5870448" y="1905000"/>
            <a:ext cx="932688" cy="548640"/>
          </a:xfrm>
          <a:prstGeom prst="roundRect">
            <a:avLst>
              <a:gd name="adj" fmla="val 10000"/>
            </a:avLst>
          </a:prstGeom>
          <a:solidFill>
            <a:srgbClr val="D97706"/>
          </a:solidFill>
          <a:ln/>
        </p:spPr>
      </p:sp>
      <p:sp>
        <p:nvSpPr>
          <p:cNvPr id="23" name="Text 20"/>
          <p:cNvSpPr/>
          <p:nvPr/>
        </p:nvSpPr>
        <p:spPr>
          <a:xfrm>
            <a:off x="5907024" y="1932432"/>
            <a:ext cx="8595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Testing &amp; Coverage</a:t>
            </a:r>
            <a:endParaRPr lang="en-US" sz="74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7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740" dirty="0"/>
          </a:p>
        </p:txBody>
      </p:sp>
      <p:sp>
        <p:nvSpPr>
          <p:cNvPr id="24" name="Shape 21"/>
          <p:cNvSpPr/>
          <p:nvPr/>
        </p:nvSpPr>
        <p:spPr>
          <a:xfrm>
            <a:off x="6867144" y="1905000"/>
            <a:ext cx="932688" cy="548640"/>
          </a:xfrm>
          <a:prstGeom prst="roundRect">
            <a:avLst>
              <a:gd name="adj" fmla="val 10000"/>
            </a:avLst>
          </a:prstGeom>
          <a:solidFill>
            <a:srgbClr val="16A34A"/>
          </a:solidFill>
          <a:ln/>
        </p:spPr>
      </p:sp>
      <p:sp>
        <p:nvSpPr>
          <p:cNvPr id="25" name="Text 22"/>
          <p:cNvSpPr/>
          <p:nvPr/>
        </p:nvSpPr>
        <p:spPr>
          <a:xfrm>
            <a:off x="6903720" y="1932432"/>
            <a:ext cx="8595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 to Dev</a:t>
            </a:r>
            <a:endParaRPr lang="en-US" sz="740" dirty="0"/>
          </a:p>
        </p:txBody>
      </p:sp>
      <p:sp>
        <p:nvSpPr>
          <p:cNvPr id="26" name="Shape 23"/>
          <p:cNvSpPr/>
          <p:nvPr/>
        </p:nvSpPr>
        <p:spPr>
          <a:xfrm>
            <a:off x="7863840" y="1905000"/>
            <a:ext cx="932688" cy="548640"/>
          </a:xfrm>
          <a:prstGeom prst="roundRect">
            <a:avLst>
              <a:gd name="adj" fmla="val 10000"/>
            </a:avLst>
          </a:prstGeom>
          <a:solidFill>
            <a:srgbClr val="D97706"/>
          </a:solidFill>
          <a:ln/>
        </p:spPr>
      </p:sp>
      <p:sp>
        <p:nvSpPr>
          <p:cNvPr id="27" name="Text 24"/>
          <p:cNvSpPr/>
          <p:nvPr/>
        </p:nvSpPr>
        <p:spPr>
          <a:xfrm>
            <a:off x="7900416" y="1932432"/>
            <a:ext cx="8595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 Strategy</a:t>
            </a:r>
            <a:endParaRPr lang="en-US" sz="74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7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740" dirty="0"/>
          </a:p>
        </p:txBody>
      </p:sp>
      <p:sp>
        <p:nvSpPr>
          <p:cNvPr id="28" name="Shape 25"/>
          <p:cNvSpPr/>
          <p:nvPr/>
        </p:nvSpPr>
        <p:spPr>
          <a:xfrm>
            <a:off x="8860536" y="1905000"/>
            <a:ext cx="932688" cy="548640"/>
          </a:xfrm>
          <a:prstGeom prst="roundRect">
            <a:avLst>
              <a:gd name="adj" fmla="val 10000"/>
            </a:avLst>
          </a:prstGeom>
          <a:solidFill>
            <a:srgbClr val="E5E9F0"/>
          </a:solidFill>
          <a:ln/>
        </p:spPr>
      </p:sp>
      <p:sp>
        <p:nvSpPr>
          <p:cNvPr id="29" name="Text 26"/>
          <p:cNvSpPr/>
          <p:nvPr/>
        </p:nvSpPr>
        <p:spPr>
          <a:xfrm>
            <a:off x="8897112" y="1932432"/>
            <a:ext cx="8595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4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Mgmt &amp; Approvals</a:t>
            </a:r>
            <a:endParaRPr lang="en-US" sz="740" dirty="0"/>
          </a:p>
        </p:txBody>
      </p:sp>
      <p:sp>
        <p:nvSpPr>
          <p:cNvPr id="30" name="Shape 27"/>
          <p:cNvSpPr/>
          <p:nvPr/>
        </p:nvSpPr>
        <p:spPr>
          <a:xfrm>
            <a:off x="9857232" y="1905000"/>
            <a:ext cx="932688" cy="548640"/>
          </a:xfrm>
          <a:prstGeom prst="roundRect">
            <a:avLst>
              <a:gd name="adj" fmla="val 10000"/>
            </a:avLst>
          </a:prstGeom>
          <a:solidFill>
            <a:srgbClr val="E5E9F0"/>
          </a:solidFill>
          <a:ln/>
        </p:spPr>
      </p:sp>
      <p:sp>
        <p:nvSpPr>
          <p:cNvPr id="31" name="Text 28"/>
          <p:cNvSpPr/>
          <p:nvPr/>
        </p:nvSpPr>
        <p:spPr>
          <a:xfrm>
            <a:off x="9893808" y="1932432"/>
            <a:ext cx="8595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4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&amp; Recovery</a:t>
            </a:r>
            <a:endParaRPr lang="en-US" sz="740" dirty="0"/>
          </a:p>
        </p:txBody>
      </p:sp>
      <p:sp>
        <p:nvSpPr>
          <p:cNvPr id="32" name="Shape 29"/>
          <p:cNvSpPr/>
          <p:nvPr/>
        </p:nvSpPr>
        <p:spPr>
          <a:xfrm>
            <a:off x="10853928" y="1905000"/>
            <a:ext cx="932688" cy="548640"/>
          </a:xfrm>
          <a:prstGeom prst="roundRect">
            <a:avLst>
              <a:gd name="adj" fmla="val 10000"/>
            </a:avLst>
          </a:prstGeom>
          <a:solidFill>
            <a:srgbClr val="E5E9F0"/>
          </a:solidFill>
          <a:ln/>
        </p:spPr>
      </p:sp>
      <p:sp>
        <p:nvSpPr>
          <p:cNvPr id="33" name="Text 30"/>
          <p:cNvSpPr/>
          <p:nvPr/>
        </p:nvSpPr>
        <p:spPr>
          <a:xfrm>
            <a:off x="10890504" y="1932432"/>
            <a:ext cx="8595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4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Operationalize</a:t>
            </a:r>
            <a:endParaRPr lang="en-US" sz="740" dirty="0"/>
          </a:p>
        </p:txBody>
      </p:sp>
      <p:sp>
        <p:nvSpPr>
          <p:cNvPr id="34" name="Shape 31"/>
          <p:cNvSpPr/>
          <p:nvPr/>
        </p:nvSpPr>
        <p:spPr>
          <a:xfrm>
            <a:off x="457200" y="2575560"/>
            <a:ext cx="11338560" cy="7924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5" name="Text 32"/>
          <p:cNvSpPr/>
          <p:nvPr/>
        </p:nvSpPr>
        <p:spPr>
          <a:xfrm>
            <a:off x="548640" y="2575560"/>
            <a:ext cx="219456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Framework
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complete</a:t>
            </a:r>
            <a:endParaRPr lang="en-US" sz="1250" dirty="0"/>
          </a:p>
        </p:txBody>
      </p:sp>
      <p:sp>
        <p:nvSpPr>
          <p:cNvPr id="36" name="Shape 33"/>
          <p:cNvSpPr/>
          <p:nvPr/>
        </p:nvSpPr>
        <p:spPr>
          <a:xfrm>
            <a:off x="2880360" y="2816352"/>
            <a:ext cx="8906256" cy="310896"/>
          </a:xfrm>
          <a:prstGeom prst="roundRect">
            <a:avLst>
              <a:gd name="adj" fmla="val 20588"/>
            </a:avLst>
          </a:prstGeom>
          <a:solidFill>
            <a:srgbClr val="E5E9F0"/>
          </a:solidFill>
          <a:ln/>
        </p:spPr>
      </p:sp>
      <p:sp>
        <p:nvSpPr>
          <p:cNvPr id="37" name="Shape 34"/>
          <p:cNvSpPr/>
          <p:nvPr/>
        </p:nvSpPr>
        <p:spPr>
          <a:xfrm>
            <a:off x="2880360" y="2816352"/>
            <a:ext cx="6234379" cy="310896"/>
          </a:xfrm>
          <a:prstGeom prst="roundRect">
            <a:avLst>
              <a:gd name="adj" fmla="val 20588"/>
            </a:avLst>
          </a:prstGeom>
          <a:solidFill>
            <a:srgbClr val="D97706"/>
          </a:solidFill>
          <a:ln/>
        </p:spPr>
      </p:sp>
      <p:sp>
        <p:nvSpPr>
          <p:cNvPr id="38" name="Text 35"/>
          <p:cNvSpPr/>
          <p:nvPr/>
        </p:nvSpPr>
        <p:spPr>
          <a:xfrm>
            <a:off x="2990088" y="2816352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overall  ·  per-phase status not individually tracked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548640" y="3368040"/>
            <a:ext cx="219456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Framework
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complete</a:t>
            </a:r>
            <a:endParaRPr lang="en-US" sz="1250" dirty="0"/>
          </a:p>
        </p:txBody>
      </p:sp>
      <p:sp>
        <p:nvSpPr>
          <p:cNvPr id="40" name="Shape 37"/>
          <p:cNvSpPr/>
          <p:nvPr/>
        </p:nvSpPr>
        <p:spPr>
          <a:xfrm>
            <a:off x="2880360" y="3489960"/>
            <a:ext cx="932688" cy="548640"/>
          </a:xfrm>
          <a:prstGeom prst="roundRect">
            <a:avLst>
              <a:gd name="adj" fmla="val 10000"/>
            </a:avLst>
          </a:prstGeom>
          <a:solidFill>
            <a:srgbClr val="16A34A"/>
          </a:solidFill>
          <a:ln/>
        </p:spPr>
      </p:sp>
      <p:sp>
        <p:nvSpPr>
          <p:cNvPr id="41" name="Text 38"/>
          <p:cNvSpPr/>
          <p:nvPr/>
        </p:nvSpPr>
        <p:spPr>
          <a:xfrm>
            <a:off x="2916936" y="3517392"/>
            <a:ext cx="8595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Strategy</a:t>
            </a:r>
            <a:endParaRPr lang="en-US" sz="740" dirty="0"/>
          </a:p>
        </p:txBody>
      </p:sp>
      <p:sp>
        <p:nvSpPr>
          <p:cNvPr id="42" name="Shape 39"/>
          <p:cNvSpPr/>
          <p:nvPr/>
        </p:nvSpPr>
        <p:spPr>
          <a:xfrm>
            <a:off x="3877056" y="3489960"/>
            <a:ext cx="932688" cy="548640"/>
          </a:xfrm>
          <a:prstGeom prst="roundRect">
            <a:avLst>
              <a:gd name="adj" fmla="val 10000"/>
            </a:avLst>
          </a:prstGeom>
          <a:solidFill>
            <a:srgbClr val="16A34A"/>
          </a:solidFill>
          <a:ln/>
        </p:spPr>
      </p:sp>
      <p:sp>
        <p:nvSpPr>
          <p:cNvPr id="43" name="Text 40"/>
          <p:cNvSpPr/>
          <p:nvPr/>
        </p:nvSpPr>
        <p:spPr>
          <a:xfrm>
            <a:off x="3913632" y="3517392"/>
            <a:ext cx="8595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&amp; Tagging Model</a:t>
            </a:r>
            <a:endParaRPr lang="en-US" sz="740" dirty="0"/>
          </a:p>
        </p:txBody>
      </p:sp>
      <p:sp>
        <p:nvSpPr>
          <p:cNvPr id="44" name="Shape 41"/>
          <p:cNvSpPr/>
          <p:nvPr/>
        </p:nvSpPr>
        <p:spPr>
          <a:xfrm>
            <a:off x="4873752" y="3489960"/>
            <a:ext cx="932688" cy="548640"/>
          </a:xfrm>
          <a:prstGeom prst="roundRect">
            <a:avLst>
              <a:gd name="adj" fmla="val 10000"/>
            </a:avLst>
          </a:prstGeom>
          <a:solidFill>
            <a:srgbClr val="E5E9F0"/>
          </a:solidFill>
          <a:ln/>
        </p:spPr>
      </p:sp>
      <p:sp>
        <p:nvSpPr>
          <p:cNvPr id="45" name="Text 42"/>
          <p:cNvSpPr/>
          <p:nvPr/>
        </p:nvSpPr>
        <p:spPr>
          <a:xfrm>
            <a:off x="4910328" y="3517392"/>
            <a:ext cx="8595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4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 &amp; Rules</a:t>
            </a:r>
            <a:endParaRPr lang="en-US" sz="740" dirty="0"/>
          </a:p>
        </p:txBody>
      </p:sp>
      <p:sp>
        <p:nvSpPr>
          <p:cNvPr id="46" name="Shape 43"/>
          <p:cNvSpPr/>
          <p:nvPr/>
        </p:nvSpPr>
        <p:spPr>
          <a:xfrm>
            <a:off x="5870448" y="3489960"/>
            <a:ext cx="932688" cy="548640"/>
          </a:xfrm>
          <a:prstGeom prst="roundRect">
            <a:avLst>
              <a:gd name="adj" fmla="val 10000"/>
            </a:avLst>
          </a:prstGeom>
          <a:solidFill>
            <a:srgbClr val="16A34A"/>
          </a:solidFill>
          <a:ln/>
        </p:spPr>
      </p:sp>
      <p:sp>
        <p:nvSpPr>
          <p:cNvPr id="47" name="Text 44"/>
          <p:cNvSpPr/>
          <p:nvPr/>
        </p:nvSpPr>
        <p:spPr>
          <a:xfrm>
            <a:off x="5907024" y="3517392"/>
            <a:ext cx="8595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Collibra Integration</a:t>
            </a:r>
            <a:endParaRPr lang="en-US" sz="740" dirty="0"/>
          </a:p>
        </p:txBody>
      </p:sp>
      <p:sp>
        <p:nvSpPr>
          <p:cNvPr id="48" name="Shape 45"/>
          <p:cNvSpPr/>
          <p:nvPr/>
        </p:nvSpPr>
        <p:spPr>
          <a:xfrm>
            <a:off x="6867144" y="3489960"/>
            <a:ext cx="932688" cy="548640"/>
          </a:xfrm>
          <a:prstGeom prst="roundRect">
            <a:avLst>
              <a:gd name="adj" fmla="val 10000"/>
            </a:avLst>
          </a:prstGeom>
          <a:solidFill>
            <a:srgbClr val="E5E9F0"/>
          </a:solidFill>
          <a:ln/>
        </p:spPr>
      </p:sp>
      <p:sp>
        <p:nvSpPr>
          <p:cNvPr id="49" name="Text 46"/>
          <p:cNvSpPr/>
          <p:nvPr/>
        </p:nvSpPr>
        <p:spPr>
          <a:xfrm>
            <a:off x="6903720" y="3517392"/>
            <a:ext cx="8595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4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Synchronization</a:t>
            </a:r>
            <a:endParaRPr lang="en-US" sz="740" dirty="0"/>
          </a:p>
        </p:txBody>
      </p:sp>
      <p:sp>
        <p:nvSpPr>
          <p:cNvPr id="50" name="Shape 47"/>
          <p:cNvSpPr/>
          <p:nvPr/>
        </p:nvSpPr>
        <p:spPr>
          <a:xfrm>
            <a:off x="7863840" y="3489960"/>
            <a:ext cx="932688" cy="54864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 w="15875">
            <a:solidFill>
              <a:srgbClr val="D97706"/>
            </a:solidFill>
            <a:prstDash val="dash"/>
          </a:ln>
        </p:spPr>
      </p:sp>
      <p:sp>
        <p:nvSpPr>
          <p:cNvPr id="51" name="Text 48"/>
          <p:cNvSpPr/>
          <p:nvPr/>
        </p:nvSpPr>
        <p:spPr>
          <a:xfrm>
            <a:off x="7900416" y="3517392"/>
            <a:ext cx="8595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4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Tag-based Policy Enforcement</a:t>
            </a:r>
            <a:endParaRPr lang="en-US" sz="74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74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review</a:t>
            </a:r>
            <a:endParaRPr lang="en-US" sz="740" dirty="0"/>
          </a:p>
        </p:txBody>
      </p:sp>
      <p:sp>
        <p:nvSpPr>
          <p:cNvPr id="52" name="Shape 49"/>
          <p:cNvSpPr/>
          <p:nvPr/>
        </p:nvSpPr>
        <p:spPr>
          <a:xfrm>
            <a:off x="8860536" y="3489960"/>
            <a:ext cx="932688" cy="548640"/>
          </a:xfrm>
          <a:prstGeom prst="roundRect">
            <a:avLst>
              <a:gd name="adj" fmla="val 10000"/>
            </a:avLst>
          </a:prstGeom>
          <a:solidFill>
            <a:srgbClr val="E5E9F0"/>
          </a:solidFill>
          <a:ln/>
        </p:spPr>
      </p:sp>
      <p:sp>
        <p:nvSpPr>
          <p:cNvPr id="53" name="Text 50"/>
          <p:cNvSpPr/>
          <p:nvPr/>
        </p:nvSpPr>
        <p:spPr>
          <a:xfrm>
            <a:off x="8897112" y="3517392"/>
            <a:ext cx="8595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4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Governance</a:t>
            </a:r>
            <a:endParaRPr lang="en-US" sz="740" dirty="0"/>
          </a:p>
        </p:txBody>
      </p:sp>
      <p:sp>
        <p:nvSpPr>
          <p:cNvPr id="54" name="Shape 51"/>
          <p:cNvSpPr/>
          <p:nvPr/>
        </p:nvSpPr>
        <p:spPr>
          <a:xfrm>
            <a:off x="9857232" y="3489960"/>
            <a:ext cx="932688" cy="548640"/>
          </a:xfrm>
          <a:prstGeom prst="roundRect">
            <a:avLst>
              <a:gd name="adj" fmla="val 10000"/>
            </a:avLst>
          </a:prstGeom>
          <a:solidFill>
            <a:srgbClr val="E5E9F0"/>
          </a:solidFill>
          <a:ln/>
        </p:spPr>
      </p:sp>
      <p:sp>
        <p:nvSpPr>
          <p:cNvPr id="55" name="Text 52"/>
          <p:cNvSpPr/>
          <p:nvPr/>
        </p:nvSpPr>
        <p:spPr>
          <a:xfrm>
            <a:off x="9893808" y="3517392"/>
            <a:ext cx="8595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4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Operationalize</a:t>
            </a:r>
            <a:endParaRPr lang="en-US" sz="740" dirty="0"/>
          </a:p>
        </p:txBody>
      </p:sp>
      <p:sp>
        <p:nvSpPr>
          <p:cNvPr id="56" name="Shape 53"/>
          <p:cNvSpPr/>
          <p:nvPr/>
        </p:nvSpPr>
        <p:spPr>
          <a:xfrm>
            <a:off x="457200" y="4160520"/>
            <a:ext cx="11338560" cy="7924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7" name="Text 54"/>
          <p:cNvSpPr/>
          <p:nvPr/>
        </p:nvSpPr>
        <p:spPr>
          <a:xfrm>
            <a:off x="548640" y="4160520"/>
            <a:ext cx="219456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/ UAT / Prod Setup
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complete</a:t>
            </a:r>
            <a:endParaRPr lang="en-US" sz="1250" dirty="0"/>
          </a:p>
        </p:txBody>
      </p:sp>
      <p:sp>
        <p:nvSpPr>
          <p:cNvPr id="58" name="Shape 55"/>
          <p:cNvSpPr/>
          <p:nvPr/>
        </p:nvSpPr>
        <p:spPr>
          <a:xfrm>
            <a:off x="2880360" y="4282440"/>
            <a:ext cx="932688" cy="548640"/>
          </a:xfrm>
          <a:prstGeom prst="roundRect">
            <a:avLst>
              <a:gd name="adj" fmla="val 10000"/>
            </a:avLst>
          </a:prstGeom>
          <a:solidFill>
            <a:srgbClr val="16A34A"/>
          </a:solidFill>
          <a:ln/>
        </p:spPr>
      </p:sp>
      <p:sp>
        <p:nvSpPr>
          <p:cNvPr id="59" name="Text 56"/>
          <p:cNvSpPr/>
          <p:nvPr/>
        </p:nvSpPr>
        <p:spPr>
          <a:xfrm>
            <a:off x="2916936" y="4309872"/>
            <a:ext cx="8595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endParaRPr lang="en-US" sz="740" dirty="0"/>
          </a:p>
        </p:txBody>
      </p:sp>
      <p:sp>
        <p:nvSpPr>
          <p:cNvPr id="60" name="Shape 57"/>
          <p:cNvSpPr/>
          <p:nvPr/>
        </p:nvSpPr>
        <p:spPr>
          <a:xfrm>
            <a:off x="3877056" y="4282440"/>
            <a:ext cx="932688" cy="548640"/>
          </a:xfrm>
          <a:prstGeom prst="roundRect">
            <a:avLst>
              <a:gd name="adj" fmla="val 10000"/>
            </a:avLst>
          </a:prstGeom>
          <a:solidFill>
            <a:srgbClr val="D97706"/>
          </a:solidFill>
          <a:ln/>
        </p:spPr>
      </p:sp>
      <p:sp>
        <p:nvSpPr>
          <p:cNvPr id="61" name="Text 58"/>
          <p:cNvSpPr/>
          <p:nvPr/>
        </p:nvSpPr>
        <p:spPr>
          <a:xfrm>
            <a:off x="3913632" y="4309872"/>
            <a:ext cx="8595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</a:t>
            </a:r>
            <a:endParaRPr lang="en-US" sz="74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7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740" dirty="0"/>
          </a:p>
        </p:txBody>
      </p:sp>
      <p:sp>
        <p:nvSpPr>
          <p:cNvPr id="62" name="Shape 59"/>
          <p:cNvSpPr/>
          <p:nvPr/>
        </p:nvSpPr>
        <p:spPr>
          <a:xfrm>
            <a:off x="4873752" y="4282440"/>
            <a:ext cx="932688" cy="548640"/>
          </a:xfrm>
          <a:prstGeom prst="roundRect">
            <a:avLst>
              <a:gd name="adj" fmla="val 10000"/>
            </a:avLst>
          </a:prstGeom>
          <a:solidFill>
            <a:srgbClr val="E5E9F0"/>
          </a:solidFill>
          <a:ln/>
        </p:spPr>
      </p:sp>
      <p:sp>
        <p:nvSpPr>
          <p:cNvPr id="63" name="Text 60"/>
          <p:cNvSpPr/>
          <p:nvPr/>
        </p:nvSpPr>
        <p:spPr>
          <a:xfrm>
            <a:off x="4910328" y="4309872"/>
            <a:ext cx="8595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4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</a:t>
            </a:r>
            <a:endParaRPr lang="en-US" sz="740" dirty="0"/>
          </a:p>
        </p:txBody>
      </p:sp>
      <p:sp>
        <p:nvSpPr>
          <p:cNvPr id="64" name="Text 61"/>
          <p:cNvSpPr/>
          <p:nvPr/>
        </p:nvSpPr>
        <p:spPr>
          <a:xfrm>
            <a:off x="548640" y="4953000"/>
            <a:ext cx="219456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Framework
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48% complete</a:t>
            </a:r>
            <a:endParaRPr lang="en-US" sz="1250" dirty="0"/>
          </a:p>
        </p:txBody>
      </p:sp>
      <p:sp>
        <p:nvSpPr>
          <p:cNvPr id="65" name="Shape 62"/>
          <p:cNvSpPr/>
          <p:nvPr/>
        </p:nvSpPr>
        <p:spPr>
          <a:xfrm>
            <a:off x="2880360" y="5074920"/>
            <a:ext cx="932688" cy="548640"/>
          </a:xfrm>
          <a:prstGeom prst="roundRect">
            <a:avLst>
              <a:gd name="adj" fmla="val 10000"/>
            </a:avLst>
          </a:prstGeom>
          <a:solidFill>
            <a:srgbClr val="16A34A"/>
          </a:solidFill>
          <a:ln/>
        </p:spPr>
      </p:sp>
      <p:sp>
        <p:nvSpPr>
          <p:cNvPr id="66" name="Text 63"/>
          <p:cNvSpPr/>
          <p:nvPr/>
        </p:nvSpPr>
        <p:spPr>
          <a:xfrm>
            <a:off x="2916936" y="5102352"/>
            <a:ext cx="8595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Strategy</a:t>
            </a:r>
            <a:endParaRPr lang="en-US" sz="740" dirty="0"/>
          </a:p>
        </p:txBody>
      </p:sp>
      <p:sp>
        <p:nvSpPr>
          <p:cNvPr id="67" name="Shape 64"/>
          <p:cNvSpPr/>
          <p:nvPr/>
        </p:nvSpPr>
        <p:spPr>
          <a:xfrm>
            <a:off x="3877056" y="5074920"/>
            <a:ext cx="932688" cy="548640"/>
          </a:xfrm>
          <a:prstGeom prst="roundRect">
            <a:avLst>
              <a:gd name="adj" fmla="val 10000"/>
            </a:avLst>
          </a:prstGeom>
          <a:solidFill>
            <a:srgbClr val="D97706"/>
          </a:solidFill>
          <a:ln/>
        </p:spPr>
      </p:sp>
      <p:sp>
        <p:nvSpPr>
          <p:cNvPr id="68" name="Text 65"/>
          <p:cNvSpPr/>
          <p:nvPr/>
        </p:nvSpPr>
        <p:spPr>
          <a:xfrm>
            <a:off x="3913632" y="5102352"/>
            <a:ext cx="8595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Audit Store</a:t>
            </a:r>
            <a:endParaRPr lang="en-US" sz="74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7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740" dirty="0"/>
          </a:p>
        </p:txBody>
      </p:sp>
      <p:sp>
        <p:nvSpPr>
          <p:cNvPr id="69" name="Shape 66"/>
          <p:cNvSpPr/>
          <p:nvPr/>
        </p:nvSpPr>
        <p:spPr>
          <a:xfrm>
            <a:off x="4873752" y="5074920"/>
            <a:ext cx="932688" cy="548640"/>
          </a:xfrm>
          <a:prstGeom prst="roundRect">
            <a:avLst>
              <a:gd name="adj" fmla="val 10000"/>
            </a:avLst>
          </a:prstGeom>
          <a:solidFill>
            <a:srgbClr val="D97706"/>
          </a:solidFill>
          <a:ln/>
        </p:spPr>
      </p:sp>
      <p:sp>
        <p:nvSpPr>
          <p:cNvPr id="70" name="Text 67"/>
          <p:cNvSpPr/>
          <p:nvPr/>
        </p:nvSpPr>
        <p:spPr>
          <a:xfrm>
            <a:off x="4910328" y="5102352"/>
            <a:ext cx="8595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Alerting</a:t>
            </a:r>
            <a:endParaRPr lang="en-US" sz="74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7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740" dirty="0"/>
          </a:p>
        </p:txBody>
      </p:sp>
      <p:sp>
        <p:nvSpPr>
          <p:cNvPr id="71" name="Shape 68"/>
          <p:cNvSpPr/>
          <p:nvPr/>
        </p:nvSpPr>
        <p:spPr>
          <a:xfrm>
            <a:off x="5870448" y="5074920"/>
            <a:ext cx="932688" cy="548640"/>
          </a:xfrm>
          <a:prstGeom prst="roundRect">
            <a:avLst>
              <a:gd name="adj" fmla="val 10000"/>
            </a:avLst>
          </a:prstGeom>
          <a:solidFill>
            <a:srgbClr val="E5E9F0"/>
          </a:solidFill>
          <a:ln/>
        </p:spPr>
      </p:sp>
      <p:sp>
        <p:nvSpPr>
          <p:cNvPr id="72" name="Text 69"/>
          <p:cNvSpPr/>
          <p:nvPr/>
        </p:nvSpPr>
        <p:spPr>
          <a:xfrm>
            <a:off x="5907024" y="5102352"/>
            <a:ext cx="8595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4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Operationalize</a:t>
            </a:r>
            <a:endParaRPr lang="en-US" sz="740" dirty="0"/>
          </a:p>
        </p:txBody>
      </p:sp>
      <p:sp>
        <p:nvSpPr>
          <p:cNvPr id="73" name="Shape 70"/>
          <p:cNvSpPr/>
          <p:nvPr/>
        </p:nvSpPr>
        <p:spPr>
          <a:xfrm>
            <a:off x="457200" y="5745480"/>
            <a:ext cx="11338560" cy="7924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74" name="Text 71"/>
          <p:cNvSpPr/>
          <p:nvPr/>
        </p:nvSpPr>
        <p:spPr>
          <a:xfrm>
            <a:off x="548640" y="5745480"/>
            <a:ext cx="219456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Sources → SFTP
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complete</a:t>
            </a:r>
            <a:endParaRPr lang="en-US" sz="1250" dirty="0"/>
          </a:p>
        </p:txBody>
      </p:sp>
      <p:sp>
        <p:nvSpPr>
          <p:cNvPr id="75" name="Shape 72"/>
          <p:cNvSpPr/>
          <p:nvPr/>
        </p:nvSpPr>
        <p:spPr>
          <a:xfrm>
            <a:off x="2880360" y="5867400"/>
            <a:ext cx="932688" cy="548640"/>
          </a:xfrm>
          <a:prstGeom prst="roundRect">
            <a:avLst>
              <a:gd name="adj" fmla="val 10000"/>
            </a:avLst>
          </a:prstGeom>
          <a:solidFill>
            <a:srgbClr val="16A34A"/>
          </a:solidFill>
          <a:ln/>
        </p:spPr>
      </p:sp>
      <p:sp>
        <p:nvSpPr>
          <p:cNvPr id="76" name="Text 73"/>
          <p:cNvSpPr/>
          <p:nvPr/>
        </p:nvSpPr>
        <p:spPr>
          <a:xfrm>
            <a:off x="2916936" y="5894832"/>
            <a:ext cx="8595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SFTP Setup (UAT)</a:t>
            </a:r>
            <a:endParaRPr lang="en-US" sz="740" dirty="0"/>
          </a:p>
        </p:txBody>
      </p:sp>
      <p:sp>
        <p:nvSpPr>
          <p:cNvPr id="77" name="Shape 74"/>
          <p:cNvSpPr/>
          <p:nvPr/>
        </p:nvSpPr>
        <p:spPr>
          <a:xfrm>
            <a:off x="3877056" y="5867400"/>
            <a:ext cx="932688" cy="548640"/>
          </a:xfrm>
          <a:prstGeom prst="roundRect">
            <a:avLst>
              <a:gd name="adj" fmla="val 10000"/>
            </a:avLst>
          </a:prstGeom>
          <a:solidFill>
            <a:srgbClr val="E5E9F0"/>
          </a:solidFill>
          <a:ln/>
        </p:spPr>
      </p:sp>
      <p:sp>
        <p:nvSpPr>
          <p:cNvPr id="78" name="Text 75"/>
          <p:cNvSpPr/>
          <p:nvPr/>
        </p:nvSpPr>
        <p:spPr>
          <a:xfrm>
            <a:off x="3913632" y="5894832"/>
            <a:ext cx="8595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4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&amp; Data Movement</a:t>
            </a:r>
            <a:endParaRPr lang="en-US" sz="7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0083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822960" y="32004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Goal Development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41248" y="4069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the platform into governed 360° data products for the business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68680" y="4800600"/>
            <a:ext cx="2651760" cy="914400"/>
          </a:xfrm>
          <a:prstGeom prst="roundRect">
            <a:avLst>
              <a:gd name="adj" fmla="val 10000"/>
            </a:avLst>
          </a:prstGeom>
          <a:solidFill>
            <a:srgbClr val="12533C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48920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FC7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20%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069848" y="534924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complete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4800600"/>
            <a:ext cx="2651760" cy="914400"/>
          </a:xfrm>
          <a:prstGeom prst="roundRect">
            <a:avLst>
              <a:gd name="adj" fmla="val 10000"/>
            </a:avLst>
          </a:prstGeom>
          <a:solidFill>
            <a:srgbClr val="12533C"/>
          </a:solidFill>
          <a:ln/>
        </p:spPr>
      </p:sp>
      <p:sp>
        <p:nvSpPr>
          <p:cNvPr id="9" name="Text 7"/>
          <p:cNvSpPr/>
          <p:nvPr/>
        </p:nvSpPr>
        <p:spPr>
          <a:xfrm>
            <a:off x="3840480" y="48920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FC7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858768" y="534924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sub-projects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46520" y="4800600"/>
            <a:ext cx="2651760" cy="914400"/>
          </a:xfrm>
          <a:prstGeom prst="roundRect">
            <a:avLst>
              <a:gd name="adj" fmla="val 10000"/>
            </a:avLst>
          </a:prstGeom>
          <a:solidFill>
            <a:srgbClr val="12533C"/>
          </a:solidFill>
          <a:ln/>
        </p:spPr>
      </p:sp>
      <p:sp>
        <p:nvSpPr>
          <p:cNvPr id="12" name="Text 10"/>
          <p:cNvSpPr/>
          <p:nvPr/>
        </p:nvSpPr>
        <p:spPr>
          <a:xfrm>
            <a:off x="6629400" y="48920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FC7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647688" y="534924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360s on roadmap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8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GOAL DEVELOPMENT  ·  PROGRAM BOARD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Archer MVP is delivered; three 360° data builds are now underway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9281160" y="384048"/>
            <a:ext cx="2331720" cy="713232"/>
          </a:xfrm>
          <a:prstGeom prst="roundRect">
            <a:avLst>
              <a:gd name="adj" fmla="val 12821"/>
            </a:avLst>
          </a:prstGeom>
          <a:solidFill>
            <a:srgbClr val="0B3D2E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2328" y="576072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939528" y="384048"/>
            <a:ext cx="1600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FB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COMPLETION
</a:t>
            </a:r>
            <a:endParaRPr lang="en-US" sz="85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Q4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66928" y="1481328"/>
            <a:ext cx="2011680" cy="45720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14813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8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sub-projects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2761488" y="1481328"/>
            <a:ext cx="2011680" cy="45720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926080" y="14813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8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4956048" y="1481328"/>
            <a:ext cx="2011680" cy="45720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120640" y="14813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8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457200" y="2240280"/>
            <a:ext cx="54406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31520" y="2496312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Archer MVP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572000" y="2532888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/>
        </p:spPr>
      </p:sp>
      <p:sp>
        <p:nvSpPr>
          <p:cNvPr id="16" name="Text 13"/>
          <p:cNvSpPr/>
          <p:nvPr/>
        </p:nvSpPr>
        <p:spPr>
          <a:xfrm>
            <a:off x="4572000" y="253288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731520" y="3026664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600" dirty="0"/>
          </a:p>
        </p:txBody>
      </p:sp>
      <p:sp>
        <p:nvSpPr>
          <p:cNvPr id="18" name="Shape 15"/>
          <p:cNvSpPr/>
          <p:nvPr/>
        </p:nvSpPr>
        <p:spPr>
          <a:xfrm>
            <a:off x="2331720" y="3191256"/>
            <a:ext cx="3291840" cy="182880"/>
          </a:xfrm>
          <a:prstGeom prst="roundRect">
            <a:avLst>
              <a:gd name="adj" fmla="val 35000"/>
            </a:avLst>
          </a:prstGeom>
          <a:solidFill>
            <a:srgbClr val="E5E9F0"/>
          </a:solidFill>
          <a:ln/>
        </p:spPr>
      </p:sp>
      <p:sp>
        <p:nvSpPr>
          <p:cNvPr id="19" name="Shape 16"/>
          <p:cNvSpPr/>
          <p:nvPr/>
        </p:nvSpPr>
        <p:spPr>
          <a:xfrm>
            <a:off x="2331720" y="3191256"/>
            <a:ext cx="3291840" cy="182880"/>
          </a:xfrm>
          <a:prstGeom prst="roundRect">
            <a:avLst>
              <a:gd name="adj" fmla="val 35000"/>
            </a:avLst>
          </a:prstGeom>
          <a:solidFill>
            <a:srgbClr val="16A34A"/>
          </a:solidFill>
          <a:ln/>
        </p:spPr>
      </p:sp>
      <p:sp>
        <p:nvSpPr>
          <p:cNvPr id="20" name="Text 17"/>
          <p:cNvSpPr/>
          <p:nvPr/>
        </p:nvSpPr>
        <p:spPr>
          <a:xfrm>
            <a:off x="731520" y="3648456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6263640" y="2240280"/>
            <a:ext cx="54406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6537960" y="2496312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Admin Risk &amp; Reporting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10104120" y="2532888"/>
            <a:ext cx="1325880" cy="27432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</p:sp>
      <p:sp>
        <p:nvSpPr>
          <p:cNvPr id="24" name="Text 21"/>
          <p:cNvSpPr/>
          <p:nvPr/>
        </p:nvSpPr>
        <p:spPr>
          <a:xfrm>
            <a:off x="10104120" y="253288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6537960" y="3026664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10%</a:t>
            </a:r>
            <a:endParaRPr lang="en-US" sz="3600" dirty="0"/>
          </a:p>
        </p:txBody>
      </p:sp>
      <p:sp>
        <p:nvSpPr>
          <p:cNvPr id="26" name="Shape 23"/>
          <p:cNvSpPr/>
          <p:nvPr/>
        </p:nvSpPr>
        <p:spPr>
          <a:xfrm>
            <a:off x="8138160" y="3191256"/>
            <a:ext cx="3291840" cy="182880"/>
          </a:xfrm>
          <a:prstGeom prst="roundRect">
            <a:avLst>
              <a:gd name="adj" fmla="val 35000"/>
            </a:avLst>
          </a:prstGeom>
          <a:solidFill>
            <a:srgbClr val="E5E9F0"/>
          </a:solidFill>
          <a:ln/>
        </p:spPr>
      </p:sp>
      <p:sp>
        <p:nvSpPr>
          <p:cNvPr id="27" name="Shape 24"/>
          <p:cNvSpPr/>
          <p:nvPr/>
        </p:nvSpPr>
        <p:spPr>
          <a:xfrm>
            <a:off x="8138160" y="3191256"/>
            <a:ext cx="329184" cy="182880"/>
          </a:xfrm>
          <a:prstGeom prst="roundRect">
            <a:avLst>
              <a:gd name="adj" fmla="val 35000"/>
            </a:avLst>
          </a:prstGeom>
          <a:solidFill>
            <a:srgbClr val="D97706"/>
          </a:solidFill>
          <a:ln/>
        </p:spPr>
      </p:sp>
      <p:sp>
        <p:nvSpPr>
          <p:cNvPr id="28" name="Text 25"/>
          <p:cNvSpPr/>
          <p:nvPr/>
        </p:nvSpPr>
        <p:spPr>
          <a:xfrm>
            <a:off x="6537960" y="3648456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delivery — End of Q3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457200" y="4270248"/>
            <a:ext cx="54406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731520" y="452628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360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4297680" y="4562856"/>
            <a:ext cx="1325880" cy="27432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</p:sp>
      <p:sp>
        <p:nvSpPr>
          <p:cNvPr id="32" name="Text 29"/>
          <p:cNvSpPr/>
          <p:nvPr/>
        </p:nvSpPr>
        <p:spPr>
          <a:xfrm>
            <a:off x="4297680" y="456285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731520" y="5056632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25%</a:t>
            </a:r>
            <a:endParaRPr lang="en-US" sz="3600" dirty="0"/>
          </a:p>
        </p:txBody>
      </p:sp>
      <p:sp>
        <p:nvSpPr>
          <p:cNvPr id="34" name="Shape 31"/>
          <p:cNvSpPr/>
          <p:nvPr/>
        </p:nvSpPr>
        <p:spPr>
          <a:xfrm>
            <a:off x="2331720" y="5221224"/>
            <a:ext cx="3291840" cy="182880"/>
          </a:xfrm>
          <a:prstGeom prst="roundRect">
            <a:avLst>
              <a:gd name="adj" fmla="val 35000"/>
            </a:avLst>
          </a:prstGeom>
          <a:solidFill>
            <a:srgbClr val="E5E9F0"/>
          </a:solidFill>
          <a:ln/>
        </p:spPr>
      </p:sp>
      <p:sp>
        <p:nvSpPr>
          <p:cNvPr id="35" name="Shape 32"/>
          <p:cNvSpPr/>
          <p:nvPr/>
        </p:nvSpPr>
        <p:spPr>
          <a:xfrm>
            <a:off x="2331720" y="5221224"/>
            <a:ext cx="822960" cy="182880"/>
          </a:xfrm>
          <a:prstGeom prst="roundRect">
            <a:avLst>
              <a:gd name="adj" fmla="val 35000"/>
            </a:avLst>
          </a:prstGeom>
          <a:solidFill>
            <a:srgbClr val="D97706"/>
          </a:solidFill>
          <a:ln/>
        </p:spPr>
      </p:sp>
      <p:sp>
        <p:nvSpPr>
          <p:cNvPr id="36" name="Text 33"/>
          <p:cNvSpPr/>
          <p:nvPr/>
        </p:nvSpPr>
        <p:spPr>
          <a:xfrm>
            <a:off x="731520" y="5678424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delivery — End of Q4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263640" y="4270248"/>
            <a:ext cx="54406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38" name="Text 35"/>
          <p:cNvSpPr/>
          <p:nvPr/>
        </p:nvSpPr>
        <p:spPr>
          <a:xfrm>
            <a:off x="6537960" y="452628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360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10104120" y="4562856"/>
            <a:ext cx="1325880" cy="27432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</p:sp>
      <p:sp>
        <p:nvSpPr>
          <p:cNvPr id="40" name="Text 37"/>
          <p:cNvSpPr/>
          <p:nvPr/>
        </p:nvSpPr>
        <p:spPr>
          <a:xfrm>
            <a:off x="10104120" y="456285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6537960" y="5056632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10%</a:t>
            </a:r>
            <a:endParaRPr lang="en-US" sz="3600" dirty="0"/>
          </a:p>
        </p:txBody>
      </p:sp>
      <p:sp>
        <p:nvSpPr>
          <p:cNvPr id="42" name="Shape 39"/>
          <p:cNvSpPr/>
          <p:nvPr/>
        </p:nvSpPr>
        <p:spPr>
          <a:xfrm>
            <a:off x="8138160" y="5221224"/>
            <a:ext cx="3291840" cy="182880"/>
          </a:xfrm>
          <a:prstGeom prst="roundRect">
            <a:avLst>
              <a:gd name="adj" fmla="val 35000"/>
            </a:avLst>
          </a:prstGeom>
          <a:solidFill>
            <a:srgbClr val="E5E9F0"/>
          </a:solidFill>
          <a:ln/>
        </p:spPr>
      </p:sp>
      <p:sp>
        <p:nvSpPr>
          <p:cNvPr id="43" name="Shape 40"/>
          <p:cNvSpPr/>
          <p:nvPr/>
        </p:nvSpPr>
        <p:spPr>
          <a:xfrm>
            <a:off x="8138160" y="5221224"/>
            <a:ext cx="329184" cy="182880"/>
          </a:xfrm>
          <a:prstGeom prst="roundRect">
            <a:avLst>
              <a:gd name="adj" fmla="val 35000"/>
            </a:avLst>
          </a:prstGeom>
          <a:solidFill>
            <a:srgbClr val="D97706"/>
          </a:solidFill>
          <a:ln/>
        </p:spPr>
      </p:sp>
      <p:sp>
        <p:nvSpPr>
          <p:cNvPr id="44" name="Text 41"/>
          <p:cNvSpPr/>
          <p:nvPr/>
        </p:nvSpPr>
        <p:spPr>
          <a:xfrm>
            <a:off x="6537960" y="5678424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delivery — End of Q4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8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GOAL DEVELOPMENT  ·  PHASE TRACKER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Phase-by-phase status across the four business-goal sub-projects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9281160" y="384048"/>
            <a:ext cx="2331720" cy="713232"/>
          </a:xfrm>
          <a:prstGeom prst="roundRect">
            <a:avLst>
              <a:gd name="adj" fmla="val 12821"/>
            </a:avLst>
          </a:prstGeom>
          <a:solidFill>
            <a:srgbClr val="0B3D2E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2328" y="576072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939528" y="384048"/>
            <a:ext cx="1600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FB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COMPLETION
</a:t>
            </a:r>
            <a:endParaRPr lang="en-US" sz="85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Q4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66928" y="1389888"/>
            <a:ext cx="237744" cy="164592"/>
          </a:xfrm>
          <a:prstGeom prst="roundRect">
            <a:avLst>
              <a:gd name="adj" fmla="val 22222"/>
            </a:avLst>
          </a:prstGeom>
          <a:solidFill>
            <a:srgbClr val="16A34A"/>
          </a:solidFill>
          <a:ln/>
        </p:spPr>
      </p:sp>
      <p:sp>
        <p:nvSpPr>
          <p:cNvPr id="8" name="Text 5"/>
          <p:cNvSpPr/>
          <p:nvPr/>
        </p:nvSpPr>
        <p:spPr>
          <a:xfrm>
            <a:off x="877824" y="131673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1861718" y="1389888"/>
            <a:ext cx="237744" cy="164592"/>
          </a:xfrm>
          <a:prstGeom prst="roundRect">
            <a:avLst>
              <a:gd name="adj" fmla="val 22222"/>
            </a:avLst>
          </a:prstGeom>
          <a:solidFill>
            <a:srgbClr val="D97706"/>
          </a:solidFill>
          <a:ln/>
        </p:spPr>
      </p:sp>
      <p:sp>
        <p:nvSpPr>
          <p:cNvPr id="10" name="Text 7"/>
          <p:cNvSpPr/>
          <p:nvPr/>
        </p:nvSpPr>
        <p:spPr>
          <a:xfrm>
            <a:off x="2172614" y="131673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354019" y="1389888"/>
            <a:ext cx="237744" cy="164592"/>
          </a:xfrm>
          <a:prstGeom prst="roundRect">
            <a:avLst>
              <a:gd name="adj" fmla="val 22222"/>
            </a:avLst>
          </a:prstGeom>
          <a:solidFill>
            <a:srgbClr val="E5E9F0"/>
          </a:solidFill>
          <a:ln/>
        </p:spPr>
      </p:sp>
      <p:sp>
        <p:nvSpPr>
          <p:cNvPr id="12" name="Text 9"/>
          <p:cNvSpPr/>
          <p:nvPr/>
        </p:nvSpPr>
        <p:spPr>
          <a:xfrm>
            <a:off x="3664915" y="131673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started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48640" y="1783080"/>
            <a:ext cx="2194560" cy="1177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Archer MVP
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done · 0 in progress · 3 total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2880360" y="2088261"/>
            <a:ext cx="932688" cy="566928"/>
          </a:xfrm>
          <a:prstGeom prst="roundRect">
            <a:avLst>
              <a:gd name="adj" fmla="val 9677"/>
            </a:avLst>
          </a:prstGeom>
          <a:solidFill>
            <a:srgbClr val="16A34A"/>
          </a:solidFill>
          <a:ln/>
        </p:spPr>
      </p:sp>
      <p:sp>
        <p:nvSpPr>
          <p:cNvPr id="15" name="Text 12"/>
          <p:cNvSpPr/>
          <p:nvPr/>
        </p:nvSpPr>
        <p:spPr>
          <a:xfrm>
            <a:off x="2916936" y="2115693"/>
            <a:ext cx="859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Requirements</a:t>
            </a:r>
            <a:endParaRPr lang="en-US" sz="730" dirty="0"/>
          </a:p>
        </p:txBody>
      </p:sp>
      <p:sp>
        <p:nvSpPr>
          <p:cNvPr id="16" name="Shape 13"/>
          <p:cNvSpPr/>
          <p:nvPr/>
        </p:nvSpPr>
        <p:spPr>
          <a:xfrm>
            <a:off x="3877056" y="2088261"/>
            <a:ext cx="932688" cy="566928"/>
          </a:xfrm>
          <a:prstGeom prst="roundRect">
            <a:avLst>
              <a:gd name="adj" fmla="val 9677"/>
            </a:avLst>
          </a:prstGeom>
          <a:solidFill>
            <a:srgbClr val="16A34A"/>
          </a:solidFill>
          <a:ln/>
        </p:spPr>
      </p:sp>
      <p:sp>
        <p:nvSpPr>
          <p:cNvPr id="17" name="Text 14"/>
          <p:cNvSpPr/>
          <p:nvPr/>
        </p:nvSpPr>
        <p:spPr>
          <a:xfrm>
            <a:off x="3913632" y="2115693"/>
            <a:ext cx="859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Data to Bronze</a:t>
            </a:r>
            <a:endParaRPr lang="en-US" sz="730" dirty="0"/>
          </a:p>
        </p:txBody>
      </p:sp>
      <p:sp>
        <p:nvSpPr>
          <p:cNvPr id="18" name="Shape 15"/>
          <p:cNvSpPr/>
          <p:nvPr/>
        </p:nvSpPr>
        <p:spPr>
          <a:xfrm>
            <a:off x="4873752" y="2088261"/>
            <a:ext cx="932688" cy="566928"/>
          </a:xfrm>
          <a:prstGeom prst="roundRect">
            <a:avLst>
              <a:gd name="adj" fmla="val 9677"/>
            </a:avLst>
          </a:prstGeom>
          <a:solidFill>
            <a:srgbClr val="16A34A"/>
          </a:solidFill>
          <a:ln/>
        </p:spPr>
      </p:sp>
      <p:sp>
        <p:nvSpPr>
          <p:cNvPr id="19" name="Text 16"/>
          <p:cNvSpPr/>
          <p:nvPr/>
        </p:nvSpPr>
        <p:spPr>
          <a:xfrm>
            <a:off x="4910328" y="2115693"/>
            <a:ext cx="859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Dashboard</a:t>
            </a:r>
            <a:endParaRPr lang="en-US" sz="730" dirty="0"/>
          </a:p>
        </p:txBody>
      </p:sp>
      <p:sp>
        <p:nvSpPr>
          <p:cNvPr id="20" name="Shape 17"/>
          <p:cNvSpPr/>
          <p:nvPr/>
        </p:nvSpPr>
        <p:spPr>
          <a:xfrm>
            <a:off x="457200" y="2960370"/>
            <a:ext cx="11338560" cy="117729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1" name="Text 18"/>
          <p:cNvSpPr/>
          <p:nvPr/>
        </p:nvSpPr>
        <p:spPr>
          <a:xfrm>
            <a:off x="548640" y="2960370"/>
            <a:ext cx="2194560" cy="1177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Admin Risk &amp; Reporting
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done · 1 in progress · 8 total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2880360" y="3265551"/>
            <a:ext cx="932688" cy="566928"/>
          </a:xfrm>
          <a:prstGeom prst="roundRect">
            <a:avLst>
              <a:gd name="adj" fmla="val 9677"/>
            </a:avLst>
          </a:prstGeom>
          <a:solidFill>
            <a:srgbClr val="D97706"/>
          </a:solidFill>
          <a:ln/>
        </p:spPr>
      </p:sp>
      <p:sp>
        <p:nvSpPr>
          <p:cNvPr id="23" name="Text 20"/>
          <p:cNvSpPr/>
          <p:nvPr/>
        </p:nvSpPr>
        <p:spPr>
          <a:xfrm>
            <a:off x="2916936" y="3292983"/>
            <a:ext cx="859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Business Requirements</a:t>
            </a:r>
            <a:endParaRPr lang="en-US" sz="73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 progress)</a:t>
            </a:r>
            <a:endParaRPr lang="en-US" sz="730" dirty="0"/>
          </a:p>
        </p:txBody>
      </p:sp>
      <p:sp>
        <p:nvSpPr>
          <p:cNvPr id="24" name="Shape 21"/>
          <p:cNvSpPr/>
          <p:nvPr/>
        </p:nvSpPr>
        <p:spPr>
          <a:xfrm>
            <a:off x="3877056" y="3265551"/>
            <a:ext cx="932688" cy="566928"/>
          </a:xfrm>
          <a:prstGeom prst="roundRect">
            <a:avLst>
              <a:gd name="adj" fmla="val 9677"/>
            </a:avLst>
          </a:prstGeom>
          <a:solidFill>
            <a:srgbClr val="E5E9F0"/>
          </a:solidFill>
          <a:ln/>
        </p:spPr>
      </p:sp>
      <p:sp>
        <p:nvSpPr>
          <p:cNvPr id="25" name="Text 22"/>
          <p:cNvSpPr/>
          <p:nvPr/>
        </p:nvSpPr>
        <p:spPr>
          <a:xfrm>
            <a:off x="3913632" y="3292983"/>
            <a:ext cx="859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KPI Logic &amp; Data Mapping</a:t>
            </a:r>
            <a:endParaRPr lang="en-US" sz="730" dirty="0"/>
          </a:p>
        </p:txBody>
      </p:sp>
      <p:sp>
        <p:nvSpPr>
          <p:cNvPr id="26" name="Shape 23"/>
          <p:cNvSpPr/>
          <p:nvPr/>
        </p:nvSpPr>
        <p:spPr>
          <a:xfrm>
            <a:off x="4873752" y="3265551"/>
            <a:ext cx="932688" cy="566928"/>
          </a:xfrm>
          <a:prstGeom prst="roundRect">
            <a:avLst>
              <a:gd name="adj" fmla="val 9677"/>
            </a:avLst>
          </a:prstGeom>
          <a:solidFill>
            <a:srgbClr val="E5E9F0"/>
          </a:solidFill>
          <a:ln/>
        </p:spPr>
      </p:sp>
      <p:sp>
        <p:nvSpPr>
          <p:cNvPr id="27" name="Text 24"/>
          <p:cNvSpPr/>
          <p:nvPr/>
        </p:nvSpPr>
        <p:spPr>
          <a:xfrm>
            <a:off x="4910328" y="3292983"/>
            <a:ext cx="859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Data to Bronze</a:t>
            </a:r>
            <a:endParaRPr lang="en-US" sz="730" dirty="0"/>
          </a:p>
        </p:txBody>
      </p:sp>
      <p:sp>
        <p:nvSpPr>
          <p:cNvPr id="28" name="Shape 25"/>
          <p:cNvSpPr/>
          <p:nvPr/>
        </p:nvSpPr>
        <p:spPr>
          <a:xfrm>
            <a:off x="5870448" y="3265551"/>
            <a:ext cx="932688" cy="566928"/>
          </a:xfrm>
          <a:prstGeom prst="roundRect">
            <a:avLst>
              <a:gd name="adj" fmla="val 9677"/>
            </a:avLst>
          </a:prstGeom>
          <a:solidFill>
            <a:srgbClr val="E5E9F0"/>
          </a:solidFill>
          <a:ln/>
        </p:spPr>
      </p:sp>
      <p:sp>
        <p:nvSpPr>
          <p:cNvPr id="29" name="Text 26"/>
          <p:cNvSpPr/>
          <p:nvPr/>
        </p:nvSpPr>
        <p:spPr>
          <a:xfrm>
            <a:off x="5907024" y="3292983"/>
            <a:ext cx="859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to Silver</a:t>
            </a:r>
            <a:endParaRPr lang="en-US" sz="730" dirty="0"/>
          </a:p>
        </p:txBody>
      </p:sp>
      <p:sp>
        <p:nvSpPr>
          <p:cNvPr id="30" name="Shape 27"/>
          <p:cNvSpPr/>
          <p:nvPr/>
        </p:nvSpPr>
        <p:spPr>
          <a:xfrm>
            <a:off x="6867144" y="3265551"/>
            <a:ext cx="932688" cy="566928"/>
          </a:xfrm>
          <a:prstGeom prst="roundRect">
            <a:avLst>
              <a:gd name="adj" fmla="val 9677"/>
            </a:avLst>
          </a:prstGeom>
          <a:solidFill>
            <a:srgbClr val="E5E9F0"/>
          </a:solidFill>
          <a:ln/>
        </p:spPr>
      </p:sp>
      <p:sp>
        <p:nvSpPr>
          <p:cNvPr id="31" name="Text 28"/>
          <p:cNvSpPr/>
          <p:nvPr/>
        </p:nvSpPr>
        <p:spPr>
          <a:xfrm>
            <a:off x="6903720" y="3292983"/>
            <a:ext cx="859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 / Reporting (Gold)</a:t>
            </a:r>
            <a:endParaRPr lang="en-US" sz="730" dirty="0"/>
          </a:p>
        </p:txBody>
      </p:sp>
      <p:sp>
        <p:nvSpPr>
          <p:cNvPr id="32" name="Shape 29"/>
          <p:cNvSpPr/>
          <p:nvPr/>
        </p:nvSpPr>
        <p:spPr>
          <a:xfrm>
            <a:off x="7863840" y="3265551"/>
            <a:ext cx="932688" cy="566928"/>
          </a:xfrm>
          <a:prstGeom prst="roundRect">
            <a:avLst>
              <a:gd name="adj" fmla="val 9677"/>
            </a:avLst>
          </a:prstGeom>
          <a:solidFill>
            <a:srgbClr val="E5E9F0"/>
          </a:solidFill>
          <a:ln/>
        </p:spPr>
      </p:sp>
      <p:sp>
        <p:nvSpPr>
          <p:cNvPr id="33" name="Text 30"/>
          <p:cNvSpPr/>
          <p:nvPr/>
        </p:nvSpPr>
        <p:spPr>
          <a:xfrm>
            <a:off x="7900416" y="3292983"/>
            <a:ext cx="859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Semantic Layer</a:t>
            </a:r>
            <a:endParaRPr lang="en-US" sz="730" dirty="0"/>
          </a:p>
        </p:txBody>
      </p:sp>
      <p:sp>
        <p:nvSpPr>
          <p:cNvPr id="34" name="Shape 31"/>
          <p:cNvSpPr/>
          <p:nvPr/>
        </p:nvSpPr>
        <p:spPr>
          <a:xfrm>
            <a:off x="8860536" y="3265551"/>
            <a:ext cx="932688" cy="566928"/>
          </a:xfrm>
          <a:prstGeom prst="roundRect">
            <a:avLst>
              <a:gd name="adj" fmla="val 9677"/>
            </a:avLst>
          </a:prstGeom>
          <a:solidFill>
            <a:srgbClr val="E5E9F0"/>
          </a:solidFill>
          <a:ln/>
        </p:spPr>
      </p:sp>
      <p:sp>
        <p:nvSpPr>
          <p:cNvPr id="35" name="Text 32"/>
          <p:cNvSpPr/>
          <p:nvPr/>
        </p:nvSpPr>
        <p:spPr>
          <a:xfrm>
            <a:off x="8897112" y="3292983"/>
            <a:ext cx="859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&amp; Reconcile</a:t>
            </a:r>
            <a:endParaRPr lang="en-US" sz="730" dirty="0"/>
          </a:p>
        </p:txBody>
      </p:sp>
      <p:sp>
        <p:nvSpPr>
          <p:cNvPr id="36" name="Shape 33"/>
          <p:cNvSpPr/>
          <p:nvPr/>
        </p:nvSpPr>
        <p:spPr>
          <a:xfrm>
            <a:off x="9857232" y="3265551"/>
            <a:ext cx="932688" cy="566928"/>
          </a:xfrm>
          <a:prstGeom prst="roundRect">
            <a:avLst>
              <a:gd name="adj" fmla="val 9677"/>
            </a:avLst>
          </a:prstGeom>
          <a:solidFill>
            <a:srgbClr val="E5E9F0"/>
          </a:solidFill>
          <a:ln/>
        </p:spPr>
      </p:sp>
      <p:sp>
        <p:nvSpPr>
          <p:cNvPr id="37" name="Text 34"/>
          <p:cNvSpPr/>
          <p:nvPr/>
        </p:nvSpPr>
        <p:spPr>
          <a:xfrm>
            <a:off x="9893808" y="3292983"/>
            <a:ext cx="859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Reports</a:t>
            </a:r>
            <a:endParaRPr lang="en-US" sz="730" dirty="0"/>
          </a:p>
        </p:txBody>
      </p:sp>
      <p:sp>
        <p:nvSpPr>
          <p:cNvPr id="38" name="Text 35"/>
          <p:cNvSpPr/>
          <p:nvPr/>
        </p:nvSpPr>
        <p:spPr>
          <a:xfrm>
            <a:off x="548640" y="4137660"/>
            <a:ext cx="2194560" cy="1177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360
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done · 2 in progress · 9 total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2880360" y="4442841"/>
            <a:ext cx="932688" cy="566928"/>
          </a:xfrm>
          <a:prstGeom prst="roundRect">
            <a:avLst>
              <a:gd name="adj" fmla="val 9677"/>
            </a:avLst>
          </a:prstGeom>
          <a:solidFill>
            <a:srgbClr val="D97706"/>
          </a:solidFill>
          <a:ln/>
        </p:spPr>
      </p:sp>
      <p:sp>
        <p:nvSpPr>
          <p:cNvPr id="40" name="Text 37"/>
          <p:cNvSpPr/>
          <p:nvPr/>
        </p:nvSpPr>
        <p:spPr>
          <a:xfrm>
            <a:off x="2916936" y="4470273"/>
            <a:ext cx="859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Strategy &amp; Requirements</a:t>
            </a:r>
            <a:endParaRPr lang="en-US" sz="73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 progress)</a:t>
            </a:r>
            <a:endParaRPr lang="en-US" sz="730" dirty="0"/>
          </a:p>
        </p:txBody>
      </p:sp>
      <p:sp>
        <p:nvSpPr>
          <p:cNvPr id="41" name="Shape 38"/>
          <p:cNvSpPr/>
          <p:nvPr/>
        </p:nvSpPr>
        <p:spPr>
          <a:xfrm>
            <a:off x="3877056" y="4442841"/>
            <a:ext cx="932688" cy="566928"/>
          </a:xfrm>
          <a:prstGeom prst="roundRect">
            <a:avLst>
              <a:gd name="adj" fmla="val 9677"/>
            </a:avLst>
          </a:prstGeom>
          <a:solidFill>
            <a:srgbClr val="D97706"/>
          </a:solidFill>
          <a:ln/>
        </p:spPr>
      </p:sp>
      <p:sp>
        <p:nvSpPr>
          <p:cNvPr id="42" name="Text 39"/>
          <p:cNvSpPr/>
          <p:nvPr/>
        </p:nvSpPr>
        <p:spPr>
          <a:xfrm>
            <a:off x="3913632" y="4470273"/>
            <a:ext cx="859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Customer Data to Bronze</a:t>
            </a:r>
            <a:endParaRPr lang="en-US" sz="73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 progress)</a:t>
            </a:r>
            <a:endParaRPr lang="en-US" sz="730" dirty="0"/>
          </a:p>
        </p:txBody>
      </p:sp>
      <p:sp>
        <p:nvSpPr>
          <p:cNvPr id="43" name="Shape 40"/>
          <p:cNvSpPr/>
          <p:nvPr/>
        </p:nvSpPr>
        <p:spPr>
          <a:xfrm>
            <a:off x="4873752" y="4442841"/>
            <a:ext cx="932688" cy="566928"/>
          </a:xfrm>
          <a:prstGeom prst="roundRect">
            <a:avLst>
              <a:gd name="adj" fmla="val 9677"/>
            </a:avLst>
          </a:prstGeom>
          <a:solidFill>
            <a:srgbClr val="E5E9F0"/>
          </a:solidFill>
          <a:ln/>
        </p:spPr>
      </p:sp>
      <p:sp>
        <p:nvSpPr>
          <p:cNvPr id="44" name="Text 41"/>
          <p:cNvSpPr/>
          <p:nvPr/>
        </p:nvSpPr>
        <p:spPr>
          <a:xfrm>
            <a:off x="4910328" y="4470273"/>
            <a:ext cx="859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&amp; Cleanse (Silver)</a:t>
            </a:r>
            <a:endParaRPr lang="en-US" sz="730" dirty="0"/>
          </a:p>
        </p:txBody>
      </p:sp>
      <p:sp>
        <p:nvSpPr>
          <p:cNvPr id="45" name="Shape 42"/>
          <p:cNvSpPr/>
          <p:nvPr/>
        </p:nvSpPr>
        <p:spPr>
          <a:xfrm>
            <a:off x="5870448" y="4442841"/>
            <a:ext cx="932688" cy="566928"/>
          </a:xfrm>
          <a:prstGeom prst="roundRect">
            <a:avLst>
              <a:gd name="adj" fmla="val 9677"/>
            </a:avLst>
          </a:prstGeom>
          <a:solidFill>
            <a:srgbClr val="E5E9F0"/>
          </a:solidFill>
          <a:ln/>
        </p:spPr>
      </p:sp>
      <p:sp>
        <p:nvSpPr>
          <p:cNvPr id="46" name="Text 43"/>
          <p:cNvSpPr/>
          <p:nvPr/>
        </p:nvSpPr>
        <p:spPr>
          <a:xfrm>
            <a:off x="5907024" y="4470273"/>
            <a:ext cx="859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Resolution</a:t>
            </a:r>
            <a:endParaRPr lang="en-US" sz="730" dirty="0"/>
          </a:p>
        </p:txBody>
      </p:sp>
      <p:sp>
        <p:nvSpPr>
          <p:cNvPr id="47" name="Shape 44"/>
          <p:cNvSpPr/>
          <p:nvPr/>
        </p:nvSpPr>
        <p:spPr>
          <a:xfrm>
            <a:off x="6867144" y="4442841"/>
            <a:ext cx="932688" cy="566928"/>
          </a:xfrm>
          <a:prstGeom prst="roundRect">
            <a:avLst>
              <a:gd name="adj" fmla="val 9677"/>
            </a:avLst>
          </a:prstGeom>
          <a:solidFill>
            <a:srgbClr val="E5E9F0"/>
          </a:solidFill>
          <a:ln/>
        </p:spPr>
      </p:sp>
      <p:sp>
        <p:nvSpPr>
          <p:cNvPr id="48" name="Text 45"/>
          <p:cNvSpPr/>
          <p:nvPr/>
        </p:nvSpPr>
        <p:spPr>
          <a:xfrm>
            <a:off x="6903720" y="4470273"/>
            <a:ext cx="859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Customer Clusters</a:t>
            </a:r>
            <a:endParaRPr lang="en-US" sz="730" dirty="0"/>
          </a:p>
        </p:txBody>
      </p:sp>
      <p:sp>
        <p:nvSpPr>
          <p:cNvPr id="49" name="Shape 46"/>
          <p:cNvSpPr/>
          <p:nvPr/>
        </p:nvSpPr>
        <p:spPr>
          <a:xfrm>
            <a:off x="7863840" y="4442841"/>
            <a:ext cx="932688" cy="566928"/>
          </a:xfrm>
          <a:prstGeom prst="roundRect">
            <a:avLst>
              <a:gd name="adj" fmla="val 9677"/>
            </a:avLst>
          </a:prstGeom>
          <a:solidFill>
            <a:srgbClr val="E5E9F0"/>
          </a:solidFill>
          <a:ln/>
        </p:spPr>
      </p:sp>
      <p:sp>
        <p:nvSpPr>
          <p:cNvPr id="50" name="Text 47"/>
          <p:cNvSpPr/>
          <p:nvPr/>
        </p:nvSpPr>
        <p:spPr>
          <a:xfrm>
            <a:off x="7900416" y="4470273"/>
            <a:ext cx="859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Golden Record</a:t>
            </a:r>
            <a:endParaRPr lang="en-US" sz="730" dirty="0"/>
          </a:p>
        </p:txBody>
      </p:sp>
      <p:sp>
        <p:nvSpPr>
          <p:cNvPr id="51" name="Shape 48"/>
          <p:cNvSpPr/>
          <p:nvPr/>
        </p:nvSpPr>
        <p:spPr>
          <a:xfrm>
            <a:off x="8860536" y="4442841"/>
            <a:ext cx="932688" cy="566928"/>
          </a:xfrm>
          <a:prstGeom prst="roundRect">
            <a:avLst>
              <a:gd name="adj" fmla="val 9677"/>
            </a:avLst>
          </a:prstGeom>
          <a:solidFill>
            <a:srgbClr val="E5E9F0"/>
          </a:solidFill>
          <a:ln/>
        </p:spPr>
      </p:sp>
      <p:sp>
        <p:nvSpPr>
          <p:cNvPr id="52" name="Text 49"/>
          <p:cNvSpPr/>
          <p:nvPr/>
        </p:nvSpPr>
        <p:spPr>
          <a:xfrm>
            <a:off x="8897112" y="4470273"/>
            <a:ext cx="859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Facts &amp; Dimensions</a:t>
            </a:r>
            <a:endParaRPr lang="en-US" sz="730" dirty="0"/>
          </a:p>
        </p:txBody>
      </p:sp>
      <p:sp>
        <p:nvSpPr>
          <p:cNvPr id="53" name="Shape 50"/>
          <p:cNvSpPr/>
          <p:nvPr/>
        </p:nvSpPr>
        <p:spPr>
          <a:xfrm>
            <a:off x="9857232" y="4442841"/>
            <a:ext cx="932688" cy="566928"/>
          </a:xfrm>
          <a:prstGeom prst="roundRect">
            <a:avLst>
              <a:gd name="adj" fmla="val 9677"/>
            </a:avLst>
          </a:prstGeom>
          <a:solidFill>
            <a:srgbClr val="E5E9F0"/>
          </a:solidFill>
          <a:ln/>
        </p:spPr>
      </p:sp>
      <p:sp>
        <p:nvSpPr>
          <p:cNvPr id="54" name="Text 51"/>
          <p:cNvSpPr/>
          <p:nvPr/>
        </p:nvSpPr>
        <p:spPr>
          <a:xfrm>
            <a:off x="9893808" y="4470273"/>
            <a:ext cx="859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 &amp; Build 360 Views</a:t>
            </a:r>
            <a:endParaRPr lang="en-US" sz="730" dirty="0"/>
          </a:p>
        </p:txBody>
      </p:sp>
      <p:sp>
        <p:nvSpPr>
          <p:cNvPr id="55" name="Shape 52"/>
          <p:cNvSpPr/>
          <p:nvPr/>
        </p:nvSpPr>
        <p:spPr>
          <a:xfrm>
            <a:off x="10853928" y="4442841"/>
            <a:ext cx="932688" cy="566928"/>
          </a:xfrm>
          <a:prstGeom prst="roundRect">
            <a:avLst>
              <a:gd name="adj" fmla="val 9677"/>
            </a:avLst>
          </a:prstGeom>
          <a:solidFill>
            <a:srgbClr val="E5E9F0"/>
          </a:solidFill>
          <a:ln/>
        </p:spPr>
      </p:sp>
      <p:sp>
        <p:nvSpPr>
          <p:cNvPr id="56" name="Text 53"/>
          <p:cNvSpPr/>
          <p:nvPr/>
        </p:nvSpPr>
        <p:spPr>
          <a:xfrm>
            <a:off x="10890504" y="4470273"/>
            <a:ext cx="859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Operationalize</a:t>
            </a:r>
            <a:endParaRPr lang="en-US" sz="730" dirty="0"/>
          </a:p>
        </p:txBody>
      </p:sp>
      <p:sp>
        <p:nvSpPr>
          <p:cNvPr id="57" name="Shape 54"/>
          <p:cNvSpPr/>
          <p:nvPr/>
        </p:nvSpPr>
        <p:spPr>
          <a:xfrm>
            <a:off x="457200" y="5314950"/>
            <a:ext cx="11338560" cy="117729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8" name="Text 55"/>
          <p:cNvSpPr/>
          <p:nvPr/>
        </p:nvSpPr>
        <p:spPr>
          <a:xfrm>
            <a:off x="548640" y="5314950"/>
            <a:ext cx="2194560" cy="1177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360
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done · 1 in progress · 7 total</a:t>
            </a:r>
            <a:endParaRPr lang="en-US" sz="1300" dirty="0"/>
          </a:p>
        </p:txBody>
      </p:sp>
      <p:sp>
        <p:nvSpPr>
          <p:cNvPr id="59" name="Shape 56"/>
          <p:cNvSpPr/>
          <p:nvPr/>
        </p:nvSpPr>
        <p:spPr>
          <a:xfrm>
            <a:off x="2880360" y="5620131"/>
            <a:ext cx="932688" cy="566928"/>
          </a:xfrm>
          <a:prstGeom prst="roundRect">
            <a:avLst>
              <a:gd name="adj" fmla="val 9677"/>
            </a:avLst>
          </a:prstGeom>
          <a:solidFill>
            <a:srgbClr val="D97706"/>
          </a:solidFill>
          <a:ln/>
        </p:spPr>
      </p:sp>
      <p:sp>
        <p:nvSpPr>
          <p:cNvPr id="60" name="Text 57"/>
          <p:cNvSpPr/>
          <p:nvPr/>
        </p:nvSpPr>
        <p:spPr>
          <a:xfrm>
            <a:off x="2916936" y="5647563"/>
            <a:ext cx="859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Objectives &amp; Scope</a:t>
            </a:r>
            <a:endParaRPr lang="en-US" sz="73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 progress)</a:t>
            </a:r>
            <a:endParaRPr lang="en-US" sz="730" dirty="0"/>
          </a:p>
        </p:txBody>
      </p:sp>
      <p:sp>
        <p:nvSpPr>
          <p:cNvPr id="61" name="Shape 58"/>
          <p:cNvSpPr/>
          <p:nvPr/>
        </p:nvSpPr>
        <p:spPr>
          <a:xfrm>
            <a:off x="3877056" y="5620131"/>
            <a:ext cx="932688" cy="566928"/>
          </a:xfrm>
          <a:prstGeom prst="roundRect">
            <a:avLst>
              <a:gd name="adj" fmla="val 9677"/>
            </a:avLst>
          </a:prstGeom>
          <a:solidFill>
            <a:srgbClr val="E5E9F0"/>
          </a:solidFill>
          <a:ln/>
        </p:spPr>
      </p:sp>
      <p:sp>
        <p:nvSpPr>
          <p:cNvPr id="62" name="Text 59"/>
          <p:cNvSpPr/>
          <p:nvPr/>
        </p:nvSpPr>
        <p:spPr>
          <a:xfrm>
            <a:off x="3913632" y="5647563"/>
            <a:ext cx="859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Data to Bronze</a:t>
            </a:r>
            <a:endParaRPr lang="en-US" sz="730" dirty="0"/>
          </a:p>
        </p:txBody>
      </p:sp>
      <p:sp>
        <p:nvSpPr>
          <p:cNvPr id="63" name="Shape 60"/>
          <p:cNvSpPr/>
          <p:nvPr/>
        </p:nvSpPr>
        <p:spPr>
          <a:xfrm>
            <a:off x="4873752" y="5620131"/>
            <a:ext cx="932688" cy="566928"/>
          </a:xfrm>
          <a:prstGeom prst="roundRect">
            <a:avLst>
              <a:gd name="adj" fmla="val 9677"/>
            </a:avLst>
          </a:prstGeom>
          <a:solidFill>
            <a:srgbClr val="E5E9F0"/>
          </a:solidFill>
          <a:ln/>
        </p:spPr>
      </p:sp>
      <p:sp>
        <p:nvSpPr>
          <p:cNvPr id="64" name="Text 61"/>
          <p:cNvSpPr/>
          <p:nvPr/>
        </p:nvSpPr>
        <p:spPr>
          <a:xfrm>
            <a:off x="4910328" y="5647563"/>
            <a:ext cx="859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&amp; Cleanse (Silver)</a:t>
            </a:r>
            <a:endParaRPr lang="en-US" sz="730" dirty="0"/>
          </a:p>
        </p:txBody>
      </p:sp>
      <p:sp>
        <p:nvSpPr>
          <p:cNvPr id="65" name="Shape 62"/>
          <p:cNvSpPr/>
          <p:nvPr/>
        </p:nvSpPr>
        <p:spPr>
          <a:xfrm>
            <a:off x="5870448" y="5620131"/>
            <a:ext cx="932688" cy="566928"/>
          </a:xfrm>
          <a:prstGeom prst="roundRect">
            <a:avLst>
              <a:gd name="adj" fmla="val 9677"/>
            </a:avLst>
          </a:prstGeom>
          <a:solidFill>
            <a:srgbClr val="E5E9F0"/>
          </a:solidFill>
          <a:ln/>
        </p:spPr>
      </p:sp>
      <p:sp>
        <p:nvSpPr>
          <p:cNvPr id="66" name="Text 63"/>
          <p:cNvSpPr/>
          <p:nvPr/>
        </p:nvSpPr>
        <p:spPr>
          <a:xfrm>
            <a:off x="5907024" y="5647563"/>
            <a:ext cx="859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&amp; Link Data</a:t>
            </a:r>
            <a:endParaRPr lang="en-US" sz="730" dirty="0"/>
          </a:p>
        </p:txBody>
      </p:sp>
      <p:sp>
        <p:nvSpPr>
          <p:cNvPr id="67" name="Shape 64"/>
          <p:cNvSpPr/>
          <p:nvPr/>
        </p:nvSpPr>
        <p:spPr>
          <a:xfrm>
            <a:off x="6867144" y="5620131"/>
            <a:ext cx="932688" cy="566928"/>
          </a:xfrm>
          <a:prstGeom prst="roundRect">
            <a:avLst>
              <a:gd name="adj" fmla="val 9677"/>
            </a:avLst>
          </a:prstGeom>
          <a:solidFill>
            <a:srgbClr val="E5E9F0"/>
          </a:solidFill>
          <a:ln/>
        </p:spPr>
      </p:sp>
      <p:sp>
        <p:nvSpPr>
          <p:cNvPr id="68" name="Text 65"/>
          <p:cNvSpPr/>
          <p:nvPr/>
        </p:nvSpPr>
        <p:spPr>
          <a:xfrm>
            <a:off x="6903720" y="5647563"/>
            <a:ext cx="859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Facts &amp; Dimensions</a:t>
            </a:r>
            <a:endParaRPr lang="en-US" sz="730" dirty="0"/>
          </a:p>
        </p:txBody>
      </p:sp>
      <p:sp>
        <p:nvSpPr>
          <p:cNvPr id="69" name="Shape 66"/>
          <p:cNvSpPr/>
          <p:nvPr/>
        </p:nvSpPr>
        <p:spPr>
          <a:xfrm>
            <a:off x="7863840" y="5620131"/>
            <a:ext cx="932688" cy="566928"/>
          </a:xfrm>
          <a:prstGeom prst="roundRect">
            <a:avLst>
              <a:gd name="adj" fmla="val 9677"/>
            </a:avLst>
          </a:prstGeom>
          <a:solidFill>
            <a:srgbClr val="E5E9F0"/>
          </a:solidFill>
          <a:ln/>
        </p:spPr>
      </p:sp>
      <p:sp>
        <p:nvSpPr>
          <p:cNvPr id="70" name="Text 67"/>
          <p:cNvSpPr/>
          <p:nvPr/>
        </p:nvSpPr>
        <p:spPr>
          <a:xfrm>
            <a:off x="7900416" y="5647563"/>
            <a:ext cx="859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Account-level Views</a:t>
            </a:r>
            <a:endParaRPr lang="en-US" sz="730" dirty="0"/>
          </a:p>
        </p:txBody>
      </p:sp>
      <p:sp>
        <p:nvSpPr>
          <p:cNvPr id="71" name="Shape 68"/>
          <p:cNvSpPr/>
          <p:nvPr/>
        </p:nvSpPr>
        <p:spPr>
          <a:xfrm>
            <a:off x="8860536" y="5620131"/>
            <a:ext cx="932688" cy="566928"/>
          </a:xfrm>
          <a:prstGeom prst="roundRect">
            <a:avLst>
              <a:gd name="adj" fmla="val 9677"/>
            </a:avLst>
          </a:prstGeom>
          <a:solidFill>
            <a:srgbClr val="E5E9F0"/>
          </a:solidFill>
          <a:ln/>
        </p:spPr>
      </p:sp>
      <p:sp>
        <p:nvSpPr>
          <p:cNvPr id="72" name="Text 69"/>
          <p:cNvSpPr/>
          <p:nvPr/>
        </p:nvSpPr>
        <p:spPr>
          <a:xfrm>
            <a:off x="8897112" y="5647563"/>
            <a:ext cx="859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Operationalize</a:t>
            </a:r>
            <a:endParaRPr lang="en-US" sz="73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0083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822960" y="32004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Scope &amp; Value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41248" y="4069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hundreds of point reports to six governed 360s on Databricks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8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SCOPE  ·  WHO WE SERVE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areas and lines of business the platform supports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974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929384"/>
            <a:ext cx="548640" cy="548640"/>
          </a:xfrm>
          <a:prstGeom prst="ellipse">
            <a:avLst/>
          </a:prstGeom>
          <a:solidFill>
            <a:srgbClr val="EAF5E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2066544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68096" y="2560320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&amp; Revenue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68096" y="2898648"/>
            <a:ext cx="2258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Sales (Loans) · Small Business · Retail Branch Network · Investments / Brokerage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493008" y="1691640"/>
            <a:ext cx="26974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712464" y="1929384"/>
            <a:ext cx="548640" cy="548640"/>
          </a:xfrm>
          <a:prstGeom prst="ellipse">
            <a:avLst/>
          </a:prstGeom>
          <a:solidFill>
            <a:srgbClr val="EAF5E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9624" y="2066544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12464" y="2560320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3712464" y="2898648"/>
            <a:ext cx="2258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Procedures · QC – new accounts · Regulation adherence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437376" y="1691640"/>
            <a:ext cx="26974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656832" y="1929384"/>
            <a:ext cx="548640" cy="548640"/>
          </a:xfrm>
          <a:prstGeom prst="ellipse">
            <a:avLst/>
          </a:prstGeom>
          <a:solidFill>
            <a:srgbClr val="EAF5E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992" y="2066544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656832" y="2560320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Management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6656832" y="2898648"/>
            <a:ext cx="2258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BSA / AML · CIP onboarding · Cash transactions · Archer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9381744" y="1691640"/>
            <a:ext cx="26974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601200" y="1929384"/>
            <a:ext cx="548640" cy="548640"/>
          </a:xfrm>
          <a:prstGeom prst="ellipse">
            <a:avLst/>
          </a:prstGeom>
          <a:solidFill>
            <a:srgbClr val="EAF5E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8360" y="2066544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601200" y="2560320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Administration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9601200" y="2898648"/>
            <a:ext cx="2258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Underwriting · Credit review · CECL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548640" y="3931920"/>
            <a:ext cx="2697480" cy="1965960"/>
          </a:xfrm>
          <a:prstGeom prst="roundRect">
            <a:avLst>
              <a:gd name="adj" fmla="val 4651"/>
            </a:avLst>
          </a:prstGeom>
          <a:solidFill>
            <a:srgbClr val="F1F5F4"/>
          </a:solidFill>
          <a:ln w="12700">
            <a:solidFill>
              <a:srgbClr val="CBD5C9"/>
            </a:solidFill>
            <a:prstDash val="dash"/>
          </a:ln>
        </p:spPr>
      </p:sp>
      <p:sp>
        <p:nvSpPr>
          <p:cNvPr id="25" name="Shape 19"/>
          <p:cNvSpPr/>
          <p:nvPr/>
        </p:nvSpPr>
        <p:spPr>
          <a:xfrm>
            <a:off x="768096" y="4169664"/>
            <a:ext cx="548640" cy="548640"/>
          </a:xfrm>
          <a:prstGeom prst="ellipse">
            <a:avLst/>
          </a:prstGeom>
          <a:solidFill>
            <a:srgbClr val="E7ECEA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56" y="4306824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68096" y="4800600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768096" y="5138928"/>
            <a:ext cx="2258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CECL  ·  out of current scope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3493008" y="3931920"/>
            <a:ext cx="26974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3712464" y="4169664"/>
            <a:ext cx="548640" cy="548640"/>
          </a:xfrm>
          <a:prstGeom prst="ellipse">
            <a:avLst/>
          </a:prstGeom>
          <a:solidFill>
            <a:srgbClr val="EAF5EF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9624" y="4306824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712464" y="4800600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3712464" y="5138928"/>
            <a:ext cx="2258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&amp; assurance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6437376" y="3931920"/>
            <a:ext cx="26974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6656832" y="4169664"/>
            <a:ext cx="548640" cy="548640"/>
          </a:xfrm>
          <a:prstGeom prst="ellipse">
            <a:avLst/>
          </a:prstGeom>
          <a:solidFill>
            <a:srgbClr val="EAF5EF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93992" y="4306824"/>
            <a:ext cx="274320" cy="27432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656832" y="4800600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1450" dirty="0"/>
          </a:p>
        </p:txBody>
      </p:sp>
      <p:sp>
        <p:nvSpPr>
          <p:cNvPr id="38" name="Text 29"/>
          <p:cNvSpPr/>
          <p:nvPr/>
        </p:nvSpPr>
        <p:spPr>
          <a:xfrm>
            <a:off x="6656832" y="5138928"/>
            <a:ext cx="2258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onboarding · campaigns · cross-sell</a:t>
            </a:r>
            <a:endParaRPr lang="en-US" sz="1050" dirty="0"/>
          </a:p>
        </p:txBody>
      </p:sp>
      <p:sp>
        <p:nvSpPr>
          <p:cNvPr id="39" name="Shape 30"/>
          <p:cNvSpPr/>
          <p:nvPr/>
        </p:nvSpPr>
        <p:spPr>
          <a:xfrm>
            <a:off x="9381744" y="3931920"/>
            <a:ext cx="26974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9601200" y="4169664"/>
            <a:ext cx="548640" cy="548640"/>
          </a:xfrm>
          <a:prstGeom prst="ellipse">
            <a:avLst/>
          </a:prstGeom>
          <a:solidFill>
            <a:srgbClr val="EAF5EF"/>
          </a:solidFill>
          <a:ln/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38360" y="4306824"/>
            <a:ext cx="274320" cy="274320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9601200" y="4800600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</a:t>
            </a:r>
            <a:endParaRPr lang="en-US" sz="1450" dirty="0"/>
          </a:p>
        </p:txBody>
      </p:sp>
      <p:sp>
        <p:nvSpPr>
          <p:cNvPr id="43" name="Text 33"/>
          <p:cNvSpPr/>
          <p:nvPr/>
        </p:nvSpPr>
        <p:spPr>
          <a:xfrm>
            <a:off x="9601200" y="5138928"/>
            <a:ext cx="2258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&amp; workforce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8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  ·  HOW WE SUPPORT TODAY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reaches the business through raw feeds, portal reports, and the CRM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611880" cy="3931920"/>
          </a:xfrm>
          <a:prstGeom prst="roundRect">
            <a:avLst>
              <a:gd name="adj" fmla="val 2532"/>
            </a:avLst>
          </a:prstGeom>
          <a:solidFill>
            <a:srgbClr val="F8FAFC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0312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225856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8803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available by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59536" y="3474720"/>
            <a:ext cx="304495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access to daily data</a:t>
            </a:r>
            <a:endParaRPr lang="en-US" sz="1150" dirty="0"/>
          </a:p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 reports via management portal (Commercial)</a:t>
            </a:r>
            <a:endParaRPr lang="en-US" sz="1150" dirty="0"/>
          </a:p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Customer-level deposit / loan / fee trending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434840" y="1783080"/>
            <a:ext cx="3611880" cy="3931920"/>
          </a:xfrm>
          <a:prstGeom prst="roundRect">
            <a:avLst>
              <a:gd name="adj" fmla="val 2532"/>
            </a:avLst>
          </a:prstGeom>
          <a:solidFill>
            <a:srgbClr val="F8FAFC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09160" y="210312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225856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09160" y="28803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LOBs need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745736" y="3474720"/>
            <a:ext cx="304495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the business with data-driven decisions</a:t>
            </a:r>
            <a:endParaRPr lang="en-US" sz="1150" dirty="0"/>
          </a:p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info — aggregate · summarize · consolidate sources · layer business rules · trend</a:t>
            </a:r>
            <a:endParaRPr lang="en-US" sz="1150" dirty="0"/>
          </a:p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reporting for regulatory / business changes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321040" y="1783080"/>
            <a:ext cx="3611880" cy="3931920"/>
          </a:xfrm>
          <a:prstGeom prst="roundRect">
            <a:avLst>
              <a:gd name="adj" fmla="val 2532"/>
            </a:avLst>
          </a:prstGeom>
          <a:solidFill>
            <a:srgbClr val="F8FAFC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595360" y="210312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0808" y="225856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95360" y="28803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CustomerOne (CRM)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631936" y="3474720"/>
            <a:ext cx="304495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it data</a:t>
            </a:r>
            <a:endParaRPr lang="en-US" sz="1150" dirty="0"/>
          </a:p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referral / opportunity / activity for sales &amp; incentive reporting</a:t>
            </a:r>
            <a:endParaRPr lang="en-US" sz="1150" dirty="0"/>
          </a:p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— SLA reporting on case management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8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  ·  PAIN POINTS WE'RE SOLVING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themes drawn directly from the business and technical assessment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118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48256"/>
            <a:ext cx="310896" cy="310896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29968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61872" y="201168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clarity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6060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unproven (sentiment exists) · no data dictionary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34840" y="1737360"/>
            <a:ext cx="36118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2048256"/>
            <a:ext cx="310896" cy="310896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4709160" y="2029968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148072" y="201168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confusion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09160" y="26060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source to use? Legacy on-prem EDW vs current Azure Gold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321040" y="1737360"/>
            <a:ext cx="36118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95360" y="2048256"/>
            <a:ext cx="310896" cy="310896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6" name="Text 14"/>
          <p:cNvSpPr/>
          <p:nvPr/>
        </p:nvSpPr>
        <p:spPr>
          <a:xfrm>
            <a:off x="8595360" y="2029968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034272" y="201168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&amp; silos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595360" y="26060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join data · customer in 4 silos → 1 (Abrigo, CustomerOne, Credit Lens…)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114800"/>
            <a:ext cx="36118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2960" y="4425696"/>
            <a:ext cx="310896" cy="310896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407408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61872" y="438912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to change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22960" y="498348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weeks to add fields to EDW, then to Tabular · adding new sources / pipelines is hard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434840" y="4114800"/>
            <a:ext cx="36118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4425696"/>
            <a:ext cx="310896" cy="310896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6" name="Text 24"/>
          <p:cNvSpPr/>
          <p:nvPr/>
        </p:nvSpPr>
        <p:spPr>
          <a:xfrm>
            <a:off x="4709160" y="4407408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148072" y="438912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&amp; sprawl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709160" y="498348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self-reporting · everyone writes their own Power BI / Excel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321040" y="4114800"/>
            <a:ext cx="36118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595360" y="4425696"/>
            <a:ext cx="310896" cy="310896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1" name="Text 29"/>
          <p:cNvSpPr/>
          <p:nvPr/>
        </p:nvSpPr>
        <p:spPr>
          <a:xfrm>
            <a:off x="8595360" y="4407408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034272" y="438912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595360" y="498348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not designed for deep history (2+ yr) → slowness · SSIS &amp; Tabular not scalable · MDS / SCD limits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8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SCOPE  ·  AREAS &amp; GROUPING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grouped per the org model, each mapped to the 360° products that serve it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97480" cy="324612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91640"/>
            <a:ext cx="2697480" cy="548640"/>
          </a:xfrm>
          <a:prstGeom prst="roundRect">
            <a:avLst>
              <a:gd name="adj" fmla="val 16667"/>
            </a:avLst>
          </a:prstGeom>
          <a:solidFill>
            <a:srgbClr val="00833E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965960"/>
            <a:ext cx="2697480" cy="274320"/>
          </a:xfrm>
          <a:prstGeom prst="rect">
            <a:avLst/>
          </a:prstGeom>
          <a:solidFill>
            <a:srgbClr val="00833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916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Management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49808" y="2404872"/>
            <a:ext cx="2295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49808" y="2642616"/>
            <a:ext cx="22951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BSA / AML · CIP · cash transactions · Archer · financial crimes (Verafin) · fair lending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49808" y="4069080"/>
            <a:ext cx="2295144" cy="713232"/>
          </a:xfrm>
          <a:prstGeom prst="roundRect">
            <a:avLst>
              <a:gd name="adj" fmla="val 8974"/>
            </a:avLst>
          </a:prstGeom>
          <a:solidFill>
            <a:srgbClr val="EAF5EF"/>
          </a:solidFill>
          <a:ln/>
        </p:spPr>
      </p:sp>
      <p:sp>
        <p:nvSpPr>
          <p:cNvPr id="11" name="Text 9"/>
          <p:cNvSpPr/>
          <p:nvPr/>
        </p:nvSpPr>
        <p:spPr>
          <a:xfrm>
            <a:off x="859536" y="4114800"/>
            <a:ext cx="2130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b="1" spc="100" kern="0" dirty="0">
                <a:solidFill>
                  <a:srgbClr val="008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SERVED BY
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360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493008" y="1691640"/>
            <a:ext cx="2697480" cy="324612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93008" y="1691640"/>
            <a:ext cx="2697480" cy="548640"/>
          </a:xfrm>
          <a:prstGeom prst="roundRect">
            <a:avLst>
              <a:gd name="adj" fmla="val 16667"/>
            </a:avLst>
          </a:prstGeom>
          <a:solidFill>
            <a:srgbClr val="00833E"/>
          </a:solidFill>
          <a:ln/>
        </p:spPr>
      </p:sp>
      <p:sp>
        <p:nvSpPr>
          <p:cNvPr id="14" name="Shape 12"/>
          <p:cNvSpPr/>
          <p:nvPr/>
        </p:nvSpPr>
        <p:spPr>
          <a:xfrm>
            <a:off x="3493008" y="1965960"/>
            <a:ext cx="2697480" cy="274320"/>
          </a:xfrm>
          <a:prstGeom prst="rect">
            <a:avLst/>
          </a:prstGeom>
          <a:solidFill>
            <a:srgbClr val="00833E"/>
          </a:solidFill>
          <a:ln/>
        </p:spPr>
      </p:sp>
      <p:sp>
        <p:nvSpPr>
          <p:cNvPr id="15" name="Text 13"/>
          <p:cNvSpPr/>
          <p:nvPr/>
        </p:nvSpPr>
        <p:spPr>
          <a:xfrm>
            <a:off x="3675888" y="16916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Administration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694176" y="2404872"/>
            <a:ext cx="2295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94176" y="2642616"/>
            <a:ext cx="22951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Underwriting · credit review · CECL · delinquency · watch lists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94176" y="4069080"/>
            <a:ext cx="2295144" cy="713232"/>
          </a:xfrm>
          <a:prstGeom prst="roundRect">
            <a:avLst>
              <a:gd name="adj" fmla="val 8974"/>
            </a:avLst>
          </a:prstGeom>
          <a:solidFill>
            <a:srgbClr val="EAF5EF"/>
          </a:solidFill>
          <a:ln/>
        </p:spPr>
      </p:sp>
      <p:sp>
        <p:nvSpPr>
          <p:cNvPr id="19" name="Text 17"/>
          <p:cNvSpPr/>
          <p:nvPr/>
        </p:nvSpPr>
        <p:spPr>
          <a:xfrm>
            <a:off x="3803904" y="4114800"/>
            <a:ext cx="2130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b="1" spc="100" kern="0" dirty="0">
                <a:solidFill>
                  <a:srgbClr val="008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SERVED BY
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360 · Product 360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437376" y="1691640"/>
            <a:ext cx="2697480" cy="324612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37376" y="1691640"/>
            <a:ext cx="2697480" cy="548640"/>
          </a:xfrm>
          <a:prstGeom prst="roundRect">
            <a:avLst>
              <a:gd name="adj" fmla="val 16667"/>
            </a:avLst>
          </a:prstGeom>
          <a:solidFill>
            <a:srgbClr val="00833E"/>
          </a:solidFill>
          <a:ln/>
        </p:spPr>
      </p:sp>
      <p:sp>
        <p:nvSpPr>
          <p:cNvPr id="22" name="Shape 20"/>
          <p:cNvSpPr/>
          <p:nvPr/>
        </p:nvSpPr>
        <p:spPr>
          <a:xfrm>
            <a:off x="6437376" y="1965960"/>
            <a:ext cx="2697480" cy="274320"/>
          </a:xfrm>
          <a:prstGeom prst="rect">
            <a:avLst/>
          </a:prstGeom>
          <a:solidFill>
            <a:srgbClr val="00833E"/>
          </a:solidFill>
          <a:ln/>
        </p:spPr>
      </p:sp>
      <p:sp>
        <p:nvSpPr>
          <p:cNvPr id="23" name="Text 21"/>
          <p:cNvSpPr/>
          <p:nvPr/>
        </p:nvSpPr>
        <p:spPr>
          <a:xfrm>
            <a:off x="6620256" y="16916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Domains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638544" y="2404872"/>
            <a:ext cx="2295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638544" y="2642616"/>
            <a:ext cx="22951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· accounts · transactions · households · products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638544" y="4069080"/>
            <a:ext cx="2295144" cy="713232"/>
          </a:xfrm>
          <a:prstGeom prst="roundRect">
            <a:avLst>
              <a:gd name="adj" fmla="val 8974"/>
            </a:avLst>
          </a:prstGeom>
          <a:solidFill>
            <a:srgbClr val="EAF5EF"/>
          </a:solidFill>
          <a:ln/>
        </p:spPr>
      </p:sp>
      <p:sp>
        <p:nvSpPr>
          <p:cNvPr id="27" name="Text 25"/>
          <p:cNvSpPr/>
          <p:nvPr/>
        </p:nvSpPr>
        <p:spPr>
          <a:xfrm>
            <a:off x="6748272" y="4114800"/>
            <a:ext cx="2130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b="1" spc="100" kern="0" dirty="0">
                <a:solidFill>
                  <a:srgbClr val="008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SERVED BY
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· Account · Transaction · Household · Product 360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9381744" y="1691640"/>
            <a:ext cx="2697480" cy="324612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CBD5C9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9381744" y="1691640"/>
            <a:ext cx="2697480" cy="548640"/>
          </a:xfrm>
          <a:prstGeom prst="roundRect">
            <a:avLst>
              <a:gd name="adj" fmla="val 16667"/>
            </a:avLst>
          </a:prstGeom>
          <a:solidFill>
            <a:srgbClr val="94A3B8"/>
          </a:solidFill>
          <a:ln/>
        </p:spPr>
      </p:sp>
      <p:sp>
        <p:nvSpPr>
          <p:cNvPr id="30" name="Shape 28"/>
          <p:cNvSpPr/>
          <p:nvPr/>
        </p:nvSpPr>
        <p:spPr>
          <a:xfrm>
            <a:off x="9381744" y="1965960"/>
            <a:ext cx="2697480" cy="27432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1" name="Text 29"/>
          <p:cNvSpPr/>
          <p:nvPr/>
        </p:nvSpPr>
        <p:spPr>
          <a:xfrm>
            <a:off x="9564624" y="16916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9582912" y="2404872"/>
            <a:ext cx="2295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9582912" y="2642616"/>
            <a:ext cx="22951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CECL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9582912" y="4069080"/>
            <a:ext cx="2295144" cy="713232"/>
          </a:xfrm>
          <a:prstGeom prst="roundRect">
            <a:avLst>
              <a:gd name="adj" fmla="val 8974"/>
            </a:avLst>
          </a:prstGeom>
          <a:solidFill>
            <a:srgbClr val="F1F5F4"/>
          </a:solidFill>
          <a:ln/>
        </p:spPr>
      </p:sp>
      <p:sp>
        <p:nvSpPr>
          <p:cNvPr id="35" name="Text 33"/>
          <p:cNvSpPr/>
          <p:nvPr/>
        </p:nvSpPr>
        <p:spPr>
          <a:xfrm>
            <a:off x="9692640" y="4114800"/>
            <a:ext cx="2130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b="1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SERVED BY
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current scope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48640" y="5212080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0B3D2E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868680" y="5212080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 &amp;  Commercial — separate business domains. 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F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one shared single source of truth, so the same governed data serves both.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8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SCOPE  ·  REPORTING CONSOLIDATION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Hundreds of point reports consolidate into six governed 360° data products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200400" cy="4572000"/>
          </a:xfrm>
          <a:prstGeom prst="roundRect">
            <a:avLst>
              <a:gd name="adj" fmla="val 2857"/>
            </a:avLst>
          </a:prstGeom>
          <a:solidFill>
            <a:srgbClr val="F8FAFC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783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202082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SSRS Analytics Portal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31343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of point reports · ungoverned · siloed sources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77240" y="2926080"/>
            <a:ext cx="274320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92608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Scorecards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77240" y="3374136"/>
            <a:ext cx="274320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374136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· Digital · Marketing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77240" y="3822192"/>
            <a:ext cx="274320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822192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Loans · Deposits · Payments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77240" y="4270248"/>
            <a:ext cx="274320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27024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· Credit Admin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77240" y="4718304"/>
            <a:ext cx="274320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718304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· Financial Crimes · BSA-AML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77240" y="5166360"/>
            <a:ext cx="274320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516636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Investments · Treasury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77240" y="5614416"/>
            <a:ext cx="274320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5614416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Incentives · Commissions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886200" y="338328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08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4600" dirty="0"/>
          </a:p>
        </p:txBody>
      </p:sp>
      <p:sp>
        <p:nvSpPr>
          <p:cNvPr id="23" name="Text 21"/>
          <p:cNvSpPr/>
          <p:nvPr/>
        </p:nvSpPr>
        <p:spPr>
          <a:xfrm>
            <a:off x="3749040" y="416052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120640" y="160020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8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— Six governed 360° data products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120640" y="1965960"/>
            <a:ext cx="3108960" cy="1225296"/>
          </a:xfrm>
          <a:prstGeom prst="roundRect">
            <a:avLst>
              <a:gd name="adj" fmla="val 7463"/>
            </a:avLst>
          </a:prstGeom>
          <a:solidFill>
            <a:srgbClr val="00833E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321808" y="216712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5321808" y="2167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83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897880" y="21488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360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5376672" y="2679192"/>
            <a:ext cx="2596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DC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· Digital · Marketing · Inquiries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595360" y="1965960"/>
            <a:ext cx="3108960" cy="1225296"/>
          </a:xfrm>
          <a:prstGeom prst="roundRect">
            <a:avLst>
              <a:gd name="adj" fmla="val 7463"/>
            </a:avLst>
          </a:prstGeom>
          <a:solidFill>
            <a:srgbClr val="0B5A34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796528" y="216712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8796528" y="2167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5A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9372600" y="21488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360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8851392" y="2679192"/>
            <a:ext cx="2596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DC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Deposits · Loans · Credit Card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120640" y="3392424"/>
            <a:ext cx="3108960" cy="1225296"/>
          </a:xfrm>
          <a:prstGeom prst="roundRect">
            <a:avLst>
              <a:gd name="adj" fmla="val 7463"/>
            </a:avLst>
          </a:prstGeom>
          <a:solidFill>
            <a:srgbClr val="00833E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321808" y="359359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5321808" y="3593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83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5897880" y="357530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360</a:t>
            </a:r>
            <a:endParaRPr lang="en-US" sz="1450" dirty="0"/>
          </a:p>
        </p:txBody>
      </p:sp>
      <p:sp>
        <p:nvSpPr>
          <p:cNvPr id="39" name="Text 37"/>
          <p:cNvSpPr/>
          <p:nvPr/>
        </p:nvSpPr>
        <p:spPr>
          <a:xfrm>
            <a:off x="5376672" y="4105656"/>
            <a:ext cx="2596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DC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· ACH · fee &amp; balance trending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8595360" y="3392424"/>
            <a:ext cx="3108960" cy="1225296"/>
          </a:xfrm>
          <a:prstGeom prst="roundRect">
            <a:avLst>
              <a:gd name="adj" fmla="val 7463"/>
            </a:avLst>
          </a:prstGeom>
          <a:solidFill>
            <a:srgbClr val="0B5A34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8796528" y="359359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8796528" y="3593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5A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9372600" y="357530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360</a:t>
            </a:r>
            <a:endParaRPr lang="en-US" sz="1450" dirty="0"/>
          </a:p>
        </p:txBody>
      </p:sp>
      <p:sp>
        <p:nvSpPr>
          <p:cNvPr id="44" name="Text 42"/>
          <p:cNvSpPr/>
          <p:nvPr/>
        </p:nvSpPr>
        <p:spPr>
          <a:xfrm>
            <a:off x="8851392" y="4105656"/>
            <a:ext cx="2596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DC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 · cross-sell rollups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120640" y="4818888"/>
            <a:ext cx="3108960" cy="1225296"/>
          </a:xfrm>
          <a:prstGeom prst="roundRect">
            <a:avLst>
              <a:gd name="adj" fmla="val 7463"/>
            </a:avLst>
          </a:prstGeom>
          <a:solidFill>
            <a:srgbClr val="00833E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5321808" y="5020056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7" name="Text 45"/>
          <p:cNvSpPr/>
          <p:nvPr/>
        </p:nvSpPr>
        <p:spPr>
          <a:xfrm>
            <a:off x="5321808" y="50200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83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5897880" y="500176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360</a:t>
            </a:r>
            <a:endParaRPr lang="en-US" sz="1450" dirty="0"/>
          </a:p>
        </p:txBody>
      </p:sp>
      <p:sp>
        <p:nvSpPr>
          <p:cNvPr id="49" name="Text 47"/>
          <p:cNvSpPr/>
          <p:nvPr/>
        </p:nvSpPr>
        <p:spPr>
          <a:xfrm>
            <a:off x="5376672" y="5532120"/>
            <a:ext cx="2596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DC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· Financial Crimes · BSA-AML · Fair Lending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8595360" y="4818888"/>
            <a:ext cx="3108960" cy="1225296"/>
          </a:xfrm>
          <a:prstGeom prst="roundRect">
            <a:avLst>
              <a:gd name="adj" fmla="val 7463"/>
            </a:avLst>
          </a:prstGeom>
          <a:solidFill>
            <a:srgbClr val="0B5A34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8796528" y="5020056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2" name="Text 50"/>
          <p:cNvSpPr/>
          <p:nvPr/>
        </p:nvSpPr>
        <p:spPr>
          <a:xfrm>
            <a:off x="8796528" y="50200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5A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9372600" y="500176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360</a:t>
            </a:r>
            <a:endParaRPr lang="en-US" sz="1450" dirty="0"/>
          </a:p>
        </p:txBody>
      </p:sp>
      <p:sp>
        <p:nvSpPr>
          <p:cNvPr id="54" name="Text 52"/>
          <p:cNvSpPr/>
          <p:nvPr/>
        </p:nvSpPr>
        <p:spPr>
          <a:xfrm>
            <a:off x="8851392" y="5532120"/>
            <a:ext cx="2596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DC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mix · portfolio · Credit Admin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8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FUTURE-STATE ARCHITECTURE  ·  ENTERPRISE LAKEHOUSE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single Databricks lakehouse from source systems to business-ready consumption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155680" cy="384048"/>
          </a:xfrm>
          <a:prstGeom prst="roundRect">
            <a:avLst>
              <a:gd name="adj" fmla="val 19048"/>
            </a:avLst>
          </a:prstGeom>
          <a:solidFill>
            <a:srgbClr val="0B3D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63040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ORCHESTRATED END-TO-END WITH LAKEFLOW JOBS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1901952" cy="18288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2240280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2734056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58368" y="3017520"/>
            <a:ext cx="16824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CustomerOne · Verafin</a:t>
            </a:r>
            <a:endParaRPr lang="en-US" sz="88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Lens · Abrigo</a:t>
            </a:r>
            <a:endParaRPr lang="en-US" sz="88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Encompass · Zelle · NCDD</a:t>
            </a:r>
            <a:endParaRPr lang="en-US" sz="88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banking · EDW</a:t>
            </a:r>
            <a:endParaRPr lang="en-US" sz="88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Actimize (retiring)</a:t>
            </a:r>
            <a:endParaRPr lang="en-US" sz="880" dirty="0"/>
          </a:p>
        </p:txBody>
      </p:sp>
      <p:sp>
        <p:nvSpPr>
          <p:cNvPr id="10" name="Text 7"/>
          <p:cNvSpPr/>
          <p:nvPr/>
        </p:nvSpPr>
        <p:spPr>
          <a:xfrm>
            <a:off x="2432304" y="2651760"/>
            <a:ext cx="448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8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2862072" y="2057400"/>
            <a:ext cx="1901952" cy="18288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3592" y="2240280"/>
            <a:ext cx="438912" cy="4389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862072" y="2734056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2971800" y="3017520"/>
            <a:ext cx="16824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ingestion</a:t>
            </a:r>
            <a:endParaRPr lang="en-US" sz="88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 ingestion</a:t>
            </a:r>
            <a:endParaRPr lang="en-US" sz="88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ingestion</a:t>
            </a:r>
            <a:endParaRPr lang="en-US" sz="880" dirty="0"/>
          </a:p>
        </p:txBody>
      </p:sp>
      <p:sp>
        <p:nvSpPr>
          <p:cNvPr id="15" name="Text 11"/>
          <p:cNvSpPr/>
          <p:nvPr/>
        </p:nvSpPr>
        <p:spPr>
          <a:xfrm>
            <a:off x="4745736" y="2651760"/>
            <a:ext cx="448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8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200" dirty="0"/>
          </a:p>
        </p:txBody>
      </p:sp>
      <p:sp>
        <p:nvSpPr>
          <p:cNvPr id="16" name="Shape 12"/>
          <p:cNvSpPr/>
          <p:nvPr/>
        </p:nvSpPr>
        <p:spPr>
          <a:xfrm>
            <a:off x="5175504" y="2057400"/>
            <a:ext cx="1901952" cy="18288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7024" y="2240280"/>
            <a:ext cx="438912" cy="43891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175504" y="2734056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MEDALLION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5285232" y="3017520"/>
            <a:ext cx="16824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— raw</a:t>
            </a:r>
            <a:endParaRPr lang="en-US" sz="88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— cleansed</a:t>
            </a:r>
            <a:endParaRPr lang="en-US" sz="88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— 360 products</a:t>
            </a:r>
            <a:endParaRPr lang="en-US" sz="880" dirty="0"/>
          </a:p>
        </p:txBody>
      </p:sp>
      <p:sp>
        <p:nvSpPr>
          <p:cNvPr id="20" name="Text 15"/>
          <p:cNvSpPr/>
          <p:nvPr/>
        </p:nvSpPr>
        <p:spPr>
          <a:xfrm>
            <a:off x="7059168" y="2651760"/>
            <a:ext cx="448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8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200" dirty="0"/>
          </a:p>
        </p:txBody>
      </p:sp>
      <p:sp>
        <p:nvSpPr>
          <p:cNvPr id="21" name="Shape 16"/>
          <p:cNvSpPr/>
          <p:nvPr/>
        </p:nvSpPr>
        <p:spPr>
          <a:xfrm>
            <a:off x="7488936" y="2057400"/>
            <a:ext cx="1901952" cy="18288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0456" y="2240280"/>
            <a:ext cx="438912" cy="43891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88936" y="2734056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7598664" y="3017520"/>
            <a:ext cx="16824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SQL</a:t>
            </a:r>
            <a:endParaRPr lang="en-US" sz="88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AI/BI Genie</a:t>
            </a:r>
            <a:endParaRPr lang="en-US" sz="88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· ML lifecycle</a:t>
            </a:r>
            <a:endParaRPr lang="en-US" sz="880" dirty="0"/>
          </a:p>
        </p:txBody>
      </p:sp>
      <p:sp>
        <p:nvSpPr>
          <p:cNvPr id="25" name="Text 19"/>
          <p:cNvSpPr/>
          <p:nvPr/>
        </p:nvSpPr>
        <p:spPr>
          <a:xfrm>
            <a:off x="9372600" y="2651760"/>
            <a:ext cx="448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8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200" dirty="0"/>
          </a:p>
        </p:txBody>
      </p:sp>
      <p:sp>
        <p:nvSpPr>
          <p:cNvPr id="26" name="Shape 20"/>
          <p:cNvSpPr/>
          <p:nvPr/>
        </p:nvSpPr>
        <p:spPr>
          <a:xfrm>
            <a:off x="9802368" y="2057400"/>
            <a:ext cx="1901952" cy="18288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33888" y="2240280"/>
            <a:ext cx="438912" cy="43891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802368" y="2734056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9912096" y="3017520"/>
            <a:ext cx="16824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dashboards</a:t>
            </a:r>
            <a:endParaRPr lang="en-US" sz="88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apps</a:t>
            </a:r>
            <a:endParaRPr lang="en-US" sz="88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Sharing · LOBs</a:t>
            </a:r>
            <a:endParaRPr lang="en-US" sz="880" dirty="0"/>
          </a:p>
        </p:txBody>
      </p:sp>
      <p:sp>
        <p:nvSpPr>
          <p:cNvPr id="30" name="Shape 23"/>
          <p:cNvSpPr/>
          <p:nvPr/>
        </p:nvSpPr>
        <p:spPr>
          <a:xfrm>
            <a:off x="548640" y="4160520"/>
            <a:ext cx="11155680" cy="566928"/>
          </a:xfrm>
          <a:prstGeom prst="roundRect">
            <a:avLst>
              <a:gd name="adj" fmla="val 12903"/>
            </a:avLst>
          </a:prstGeom>
          <a:solidFill>
            <a:srgbClr val="EAF5EF"/>
          </a:solidFill>
          <a:ln w="12700">
            <a:solidFill>
              <a:srgbClr val="CFE6D9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777240" y="416052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LAKEHOUSE FOUNDATION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3383280" y="416052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Catalog · Delta Lake · Photon · Apache Spark · ADLS</a:t>
            </a:r>
            <a:endParaRPr lang="en-US" sz="1050" dirty="0"/>
          </a:p>
        </p:txBody>
      </p:sp>
      <p:sp>
        <p:nvSpPr>
          <p:cNvPr id="33" name="Shape 26"/>
          <p:cNvSpPr/>
          <p:nvPr/>
        </p:nvSpPr>
        <p:spPr>
          <a:xfrm>
            <a:off x="548640" y="4837176"/>
            <a:ext cx="11155680" cy="566928"/>
          </a:xfrm>
          <a:prstGeom prst="roundRect">
            <a:avLst>
              <a:gd name="adj" fmla="val 12903"/>
            </a:avLst>
          </a:prstGeom>
          <a:solidFill>
            <a:srgbClr val="EAF5EF"/>
          </a:solidFill>
          <a:ln w="12700">
            <a:solidFill>
              <a:srgbClr val="CFE6D9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777240" y="4837176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100" dirty="0"/>
          </a:p>
        </p:txBody>
      </p:sp>
      <p:sp>
        <p:nvSpPr>
          <p:cNvPr id="35" name="Text 28"/>
          <p:cNvSpPr/>
          <p:nvPr/>
        </p:nvSpPr>
        <p:spPr>
          <a:xfrm>
            <a:off x="3383280" y="4837176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Collibra + Unity Catalog — policy &amp; compliance · lineage · stewardship · business glossary</a:t>
            </a:r>
            <a:endParaRPr lang="en-US" sz="1050" dirty="0"/>
          </a:p>
        </p:txBody>
      </p:sp>
      <p:sp>
        <p:nvSpPr>
          <p:cNvPr id="36" name="Shape 29"/>
          <p:cNvSpPr/>
          <p:nvPr/>
        </p:nvSpPr>
        <p:spPr>
          <a:xfrm>
            <a:off x="548640" y="5513832"/>
            <a:ext cx="11155680" cy="566928"/>
          </a:xfrm>
          <a:prstGeom prst="roundRect">
            <a:avLst>
              <a:gd name="adj" fmla="val 12903"/>
            </a:avLst>
          </a:prstGeom>
          <a:solidFill>
            <a:srgbClr val="EAF5EF"/>
          </a:solidFill>
          <a:ln w="12700">
            <a:solidFill>
              <a:srgbClr val="CFE6D9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777240" y="551383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100" dirty="0"/>
          </a:p>
        </p:txBody>
      </p:sp>
      <p:sp>
        <p:nvSpPr>
          <p:cNvPr id="38" name="Text 31"/>
          <p:cNvSpPr/>
          <p:nvPr/>
        </p:nvSpPr>
        <p:spPr>
          <a:xfrm>
            <a:off x="3383280" y="551383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Azure — Entra · Azure DevOps &amp; GitHub · Key Vault · Monitor · Defender for Cloud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8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FUTURE-STATE ARCHITECTURE  ·  AGENTIC CONSUMPTION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 Genies put governed 360° data in every user's hands through natural language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0378440" y="457200"/>
            <a:ext cx="1325880" cy="384048"/>
          </a:xfrm>
          <a:prstGeom prst="roundRect">
            <a:avLst>
              <a:gd name="adj" fmla="val 23810"/>
            </a:avLst>
          </a:prstGeom>
          <a:solidFill>
            <a:srgbClr val="177049"/>
          </a:solidFill>
          <a:ln/>
        </p:spPr>
      </p:sp>
      <p:sp>
        <p:nvSpPr>
          <p:cNvPr id="5" name="Text 3"/>
          <p:cNvSpPr/>
          <p:nvPr/>
        </p:nvSpPr>
        <p:spPr>
          <a:xfrm>
            <a:off x="10378440" y="45720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STATE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SOURCES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2011680" cy="566928"/>
          </a:xfrm>
          <a:prstGeom prst="round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92024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UI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596896"/>
            <a:ext cx="2011680" cy="566928"/>
          </a:xfrm>
          <a:prstGeom prst="round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596896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/ Web apps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273552"/>
            <a:ext cx="2011680" cy="566928"/>
          </a:xfrm>
          <a:prstGeom prst="round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27355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clients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950208"/>
            <a:ext cx="2011680" cy="566928"/>
          </a:xfrm>
          <a:prstGeom prst="round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950208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(SSO)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880360" y="1554480"/>
            <a:ext cx="6126480" cy="603504"/>
          </a:xfrm>
          <a:prstGeom prst="roundRect">
            <a:avLst>
              <a:gd name="adj" fmla="val 15152"/>
            </a:avLst>
          </a:prstGeom>
          <a:solidFill>
            <a:srgbClr val="0B3D2E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880360" y="1554480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Supervisor Agent — Agent Bricks Supervisor + Custom MCP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880360" y="2377440"/>
            <a:ext cx="1093622" cy="914400"/>
          </a:xfrm>
          <a:prstGeom prst="roundRect">
            <a:avLst>
              <a:gd name="adj" fmla="val 10000"/>
            </a:avLst>
          </a:prstGeom>
          <a:solidFill>
            <a:srgbClr val="0B5A34"/>
          </a:solidFill>
          <a:ln/>
        </p:spPr>
      </p:sp>
      <p:sp>
        <p:nvSpPr>
          <p:cNvPr id="18" name="Text 16"/>
          <p:cNvSpPr/>
          <p:nvPr/>
        </p:nvSpPr>
        <p:spPr>
          <a:xfrm>
            <a:off x="2880360" y="2468880"/>
            <a:ext cx="109362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1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834640" y="3017520"/>
            <a:ext cx="118506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i="1" dirty="0">
                <a:solidFill>
                  <a:srgbClr val="DC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 Customer 360</a:t>
            </a:r>
            <a:endParaRPr lang="en-US" sz="760" dirty="0"/>
          </a:p>
        </p:txBody>
      </p:sp>
      <p:sp>
        <p:nvSpPr>
          <p:cNvPr id="20" name="Shape 18"/>
          <p:cNvSpPr/>
          <p:nvPr/>
        </p:nvSpPr>
        <p:spPr>
          <a:xfrm>
            <a:off x="4138574" y="2377440"/>
            <a:ext cx="1093622" cy="914400"/>
          </a:xfrm>
          <a:prstGeom prst="roundRect">
            <a:avLst>
              <a:gd name="adj" fmla="val 10000"/>
            </a:avLst>
          </a:prstGeom>
          <a:solidFill>
            <a:srgbClr val="0B5A34"/>
          </a:solidFill>
          <a:ln/>
        </p:spPr>
      </p:sp>
      <p:sp>
        <p:nvSpPr>
          <p:cNvPr id="21" name="Text 19"/>
          <p:cNvSpPr/>
          <p:nvPr/>
        </p:nvSpPr>
        <p:spPr>
          <a:xfrm>
            <a:off x="4138574" y="2468880"/>
            <a:ext cx="109362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</a:t>
            </a:r>
            <a:endParaRPr lang="en-US" sz="11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092854" y="3017520"/>
            <a:ext cx="118506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i="1" dirty="0">
                <a:solidFill>
                  <a:srgbClr val="DC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 Transaction 360</a:t>
            </a:r>
            <a:endParaRPr lang="en-US" sz="760" dirty="0"/>
          </a:p>
        </p:txBody>
      </p:sp>
      <p:sp>
        <p:nvSpPr>
          <p:cNvPr id="23" name="Shape 21"/>
          <p:cNvSpPr/>
          <p:nvPr/>
        </p:nvSpPr>
        <p:spPr>
          <a:xfrm>
            <a:off x="5396789" y="2377440"/>
            <a:ext cx="1093622" cy="914400"/>
          </a:xfrm>
          <a:prstGeom prst="roundRect">
            <a:avLst>
              <a:gd name="adj" fmla="val 10000"/>
            </a:avLst>
          </a:prstGeom>
          <a:solidFill>
            <a:srgbClr val="0B5A34"/>
          </a:solidFill>
          <a:ln/>
        </p:spPr>
      </p:sp>
      <p:sp>
        <p:nvSpPr>
          <p:cNvPr id="24" name="Text 22"/>
          <p:cNvSpPr/>
          <p:nvPr/>
        </p:nvSpPr>
        <p:spPr>
          <a:xfrm>
            <a:off x="5396789" y="2468880"/>
            <a:ext cx="109362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1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351069" y="3017520"/>
            <a:ext cx="118506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i="1" dirty="0">
                <a:solidFill>
                  <a:srgbClr val="DC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 Risk 360</a:t>
            </a:r>
            <a:endParaRPr lang="en-US" sz="760" dirty="0"/>
          </a:p>
        </p:txBody>
      </p:sp>
      <p:sp>
        <p:nvSpPr>
          <p:cNvPr id="26" name="Shape 24"/>
          <p:cNvSpPr/>
          <p:nvPr/>
        </p:nvSpPr>
        <p:spPr>
          <a:xfrm>
            <a:off x="6655003" y="2377440"/>
            <a:ext cx="1093622" cy="914400"/>
          </a:xfrm>
          <a:prstGeom prst="roundRect">
            <a:avLst>
              <a:gd name="adj" fmla="val 10000"/>
            </a:avLst>
          </a:prstGeom>
          <a:solidFill>
            <a:srgbClr val="0B5A34"/>
          </a:solidFill>
          <a:ln/>
        </p:spPr>
      </p:sp>
      <p:sp>
        <p:nvSpPr>
          <p:cNvPr id="27" name="Text 25"/>
          <p:cNvSpPr/>
          <p:nvPr/>
        </p:nvSpPr>
        <p:spPr>
          <a:xfrm>
            <a:off x="6655003" y="2468880"/>
            <a:ext cx="109362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1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913218" y="2377440"/>
            <a:ext cx="1093622" cy="914400"/>
          </a:xfrm>
          <a:prstGeom prst="roundRect">
            <a:avLst>
              <a:gd name="adj" fmla="val 10000"/>
            </a:avLst>
          </a:prstGeom>
          <a:solidFill>
            <a:srgbClr val="0B5A34"/>
          </a:solidFill>
          <a:ln/>
        </p:spPr>
      </p:sp>
      <p:sp>
        <p:nvSpPr>
          <p:cNvPr id="29" name="Text 27"/>
          <p:cNvSpPr/>
          <p:nvPr/>
        </p:nvSpPr>
        <p:spPr>
          <a:xfrm>
            <a:off x="7913218" y="2468880"/>
            <a:ext cx="109362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1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880360" y="3456432"/>
            <a:ext cx="6126480" cy="512064"/>
          </a:xfrm>
          <a:prstGeom prst="roundRect">
            <a:avLst>
              <a:gd name="adj" fmla="val 14286"/>
            </a:avLst>
          </a:prstGeom>
          <a:solidFill>
            <a:srgbClr val="177049"/>
          </a:solidFill>
          <a:ln/>
        </p:spPr>
      </p:sp>
      <p:sp>
        <p:nvSpPr>
          <p:cNvPr id="31" name="Text 29"/>
          <p:cNvSpPr/>
          <p:nvPr/>
        </p:nvSpPr>
        <p:spPr>
          <a:xfrm>
            <a:off x="2880360" y="3456432"/>
            <a:ext cx="6126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Semantic Layer — Unity Catalog metric views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880360" y="4114800"/>
            <a:ext cx="6126480" cy="749808"/>
          </a:xfrm>
          <a:prstGeom prst="roundRect">
            <a:avLst>
              <a:gd name="adj" fmla="val 9756"/>
            </a:avLst>
          </a:prstGeom>
          <a:solidFill>
            <a:srgbClr val="F8FAFC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017520" y="4169664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LAKEHOUSE DATA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017520" y="4389120"/>
            <a:ext cx="5852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  ·   Silver   ·   Gold   ·   Summary   ·   Unstructured   ·   External data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880360" y="5010912"/>
            <a:ext cx="6126480" cy="841248"/>
          </a:xfrm>
          <a:prstGeom prst="roundRect">
            <a:avLst>
              <a:gd name="adj" fmla="val 8696"/>
            </a:avLst>
          </a:prstGeom>
          <a:solidFill>
            <a:srgbClr val="EAF5EF"/>
          </a:solidFill>
          <a:ln w="12700">
            <a:solidFill>
              <a:srgbClr val="CFE6D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017520" y="5065776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8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UNIFIED, OPEN, GOVERNED LAKEHOUSE FOUNDATION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017520" y="5285232"/>
            <a:ext cx="5852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Identity: 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Collibra &amp; Unity Catalog · RBAC/ABAC · policy-as-code
</a:t>
            </a:r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Storage: 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Lake · Parquet · flat files · CSV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760720" y="221284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8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760720" y="334670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8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9281160" y="15544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 / OUTPUTS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9281160" y="1920240"/>
            <a:ext cx="2377440" cy="530352"/>
          </a:xfrm>
          <a:prstGeom prst="roundRect">
            <a:avLst>
              <a:gd name="adj" fmla="val 13793"/>
            </a:avLst>
          </a:prstGeom>
          <a:solidFill>
            <a:srgbClr val="F8FAFC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281160" y="192024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Users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9281160" y="2551176"/>
            <a:ext cx="2377440" cy="530352"/>
          </a:xfrm>
          <a:prstGeom prst="roundRect">
            <a:avLst>
              <a:gd name="adj" fmla="val 13793"/>
            </a:avLst>
          </a:prstGeom>
          <a:solidFill>
            <a:srgbClr val="F8FAFC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281160" y="2551176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Reporting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9281160" y="3182112"/>
            <a:ext cx="2377440" cy="530352"/>
          </a:xfrm>
          <a:prstGeom prst="roundRect">
            <a:avLst>
              <a:gd name="adj" fmla="val 13793"/>
            </a:avLst>
          </a:prstGeom>
          <a:solidFill>
            <a:srgbClr val="F8FAFC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281160" y="3182112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Apps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9281160" y="3813048"/>
            <a:ext cx="2377440" cy="530352"/>
          </a:xfrm>
          <a:prstGeom prst="roundRect">
            <a:avLst>
              <a:gd name="adj" fmla="val 13793"/>
            </a:avLst>
          </a:prstGeom>
          <a:solidFill>
            <a:srgbClr val="F8FAFC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281160" y="3813048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DBs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9281160" y="4443984"/>
            <a:ext cx="2377440" cy="530352"/>
          </a:xfrm>
          <a:prstGeom prst="roundRect">
            <a:avLst>
              <a:gd name="adj" fmla="val 13793"/>
            </a:avLst>
          </a:prstGeom>
          <a:solidFill>
            <a:srgbClr val="F8FAFC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281160" y="4443984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9281160" y="5074920"/>
            <a:ext cx="2377440" cy="530352"/>
          </a:xfrm>
          <a:prstGeom prst="roundRect">
            <a:avLst>
              <a:gd name="adj" fmla="val 13793"/>
            </a:avLst>
          </a:prstGeom>
          <a:solidFill>
            <a:srgbClr val="F8FAFC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281160" y="507492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&amp; Quotas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8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GOAL DEVELOPMENT  ·  360° ROADMAP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data products, built in sequence, each unlocking use cases and retiring pain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33502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the frameworks already delivered · Customer &amp; Account 360 target end of Q4 · remainder sequenced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356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783080"/>
            <a:ext cx="3535680" cy="566928"/>
          </a:xfrm>
          <a:prstGeom prst="roundRect">
            <a:avLst>
              <a:gd name="adj" fmla="val 16129"/>
            </a:avLst>
          </a:prstGeom>
          <a:solidFill>
            <a:srgbClr val="00833E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057400"/>
            <a:ext cx="3535680" cy="292608"/>
          </a:xfrm>
          <a:prstGeom prst="rect">
            <a:avLst/>
          </a:prstGeom>
          <a:solidFill>
            <a:srgbClr val="00833E"/>
          </a:solidFill>
          <a:ln/>
        </p:spPr>
      </p:sp>
      <p:sp>
        <p:nvSpPr>
          <p:cNvPr id="8" name="Shape 6"/>
          <p:cNvSpPr/>
          <p:nvPr/>
        </p:nvSpPr>
        <p:spPr>
          <a:xfrm>
            <a:off x="713232" y="1901952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713232" y="19019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83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52144" y="1783080"/>
            <a:ext cx="280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360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68096" y="2496312"/>
            <a:ext cx="30967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b="1" spc="100" kern="0" dirty="0">
                <a:solidFill>
                  <a:srgbClr val="008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
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customer view · sales &amp; incentive (CustomerOne) · inquiries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768096" y="3337560"/>
            <a:ext cx="3096768" cy="329184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/>
        </p:spPr>
      </p:sp>
      <p:sp>
        <p:nvSpPr>
          <p:cNvPr id="13" name="Text 11"/>
          <p:cNvSpPr/>
          <p:nvPr/>
        </p:nvSpPr>
        <p:spPr>
          <a:xfrm>
            <a:off x="859536" y="3337560"/>
            <a:ext cx="2913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Solves: 4 silos → 1 customer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4358640" y="1783080"/>
            <a:ext cx="35356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58640" y="1783080"/>
            <a:ext cx="3535680" cy="566928"/>
          </a:xfrm>
          <a:prstGeom prst="roundRect">
            <a:avLst>
              <a:gd name="adj" fmla="val 16129"/>
            </a:avLst>
          </a:prstGeom>
          <a:solidFill>
            <a:srgbClr val="0B5A34"/>
          </a:solidFill>
          <a:ln/>
        </p:spPr>
      </p:sp>
      <p:sp>
        <p:nvSpPr>
          <p:cNvPr id="16" name="Shape 14"/>
          <p:cNvSpPr/>
          <p:nvPr/>
        </p:nvSpPr>
        <p:spPr>
          <a:xfrm>
            <a:off x="4358640" y="2057400"/>
            <a:ext cx="3535680" cy="292608"/>
          </a:xfrm>
          <a:prstGeom prst="rect">
            <a:avLst/>
          </a:prstGeom>
          <a:solidFill>
            <a:srgbClr val="0B5A34"/>
          </a:solidFill>
          <a:ln/>
        </p:spPr>
      </p:sp>
      <p:sp>
        <p:nvSpPr>
          <p:cNvPr id="17" name="Shape 15"/>
          <p:cNvSpPr/>
          <p:nvPr/>
        </p:nvSpPr>
        <p:spPr>
          <a:xfrm>
            <a:off x="4523232" y="1901952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4523232" y="19019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5A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62144" y="1783080"/>
            <a:ext cx="280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360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578096" y="2496312"/>
            <a:ext cx="30967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b="1" spc="100" kern="0" dirty="0">
                <a:solidFill>
                  <a:srgbClr val="008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
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 / loan / credit-card account &amp; portfolio reporting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578096" y="3337560"/>
            <a:ext cx="3096768" cy="329184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/>
        </p:spPr>
      </p:sp>
      <p:sp>
        <p:nvSpPr>
          <p:cNvPr id="22" name="Text 20"/>
          <p:cNvSpPr/>
          <p:nvPr/>
        </p:nvSpPr>
        <p:spPr>
          <a:xfrm>
            <a:off x="4669536" y="3337560"/>
            <a:ext cx="2913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Solves: EDW vs Gold source confusion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8168640" y="1783080"/>
            <a:ext cx="35356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168640" y="1783080"/>
            <a:ext cx="3535680" cy="566928"/>
          </a:xfrm>
          <a:prstGeom prst="roundRect">
            <a:avLst>
              <a:gd name="adj" fmla="val 16129"/>
            </a:avLst>
          </a:prstGeom>
          <a:solidFill>
            <a:srgbClr val="00833E"/>
          </a:solidFill>
          <a:ln/>
        </p:spPr>
      </p:sp>
      <p:sp>
        <p:nvSpPr>
          <p:cNvPr id="25" name="Shape 23"/>
          <p:cNvSpPr/>
          <p:nvPr/>
        </p:nvSpPr>
        <p:spPr>
          <a:xfrm>
            <a:off x="8168640" y="2057400"/>
            <a:ext cx="3535680" cy="292608"/>
          </a:xfrm>
          <a:prstGeom prst="rect">
            <a:avLst/>
          </a:prstGeom>
          <a:solidFill>
            <a:srgbClr val="00833E"/>
          </a:solidFill>
          <a:ln/>
        </p:spPr>
      </p:sp>
      <p:sp>
        <p:nvSpPr>
          <p:cNvPr id="26" name="Shape 24"/>
          <p:cNvSpPr/>
          <p:nvPr/>
        </p:nvSpPr>
        <p:spPr>
          <a:xfrm>
            <a:off x="8333232" y="1901952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8333232" y="19019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83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772144" y="1783080"/>
            <a:ext cx="280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360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8388096" y="2496312"/>
            <a:ext cx="30967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b="1" spc="100" kern="0" dirty="0">
                <a:solidFill>
                  <a:srgbClr val="008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
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 / loan / fee trending · payments · ACH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8388096" y="3337560"/>
            <a:ext cx="3096768" cy="329184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/>
        </p:spPr>
      </p:sp>
      <p:sp>
        <p:nvSpPr>
          <p:cNvPr id="31" name="Text 29"/>
          <p:cNvSpPr/>
          <p:nvPr/>
        </p:nvSpPr>
        <p:spPr>
          <a:xfrm>
            <a:off x="8479536" y="3337560"/>
            <a:ext cx="2913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Solves: deep-history (2+ yr) performance</a:t>
            </a:r>
            <a:endParaRPr lang="en-US" sz="880" dirty="0"/>
          </a:p>
        </p:txBody>
      </p:sp>
      <p:sp>
        <p:nvSpPr>
          <p:cNvPr id="32" name="Shape 30"/>
          <p:cNvSpPr/>
          <p:nvPr/>
        </p:nvSpPr>
        <p:spPr>
          <a:xfrm>
            <a:off x="548640" y="4069080"/>
            <a:ext cx="35356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48640" y="4069080"/>
            <a:ext cx="3535680" cy="566928"/>
          </a:xfrm>
          <a:prstGeom prst="roundRect">
            <a:avLst>
              <a:gd name="adj" fmla="val 16129"/>
            </a:avLst>
          </a:prstGeom>
          <a:solidFill>
            <a:srgbClr val="0B5A34"/>
          </a:solidFill>
          <a:ln/>
        </p:spPr>
      </p:sp>
      <p:sp>
        <p:nvSpPr>
          <p:cNvPr id="34" name="Shape 32"/>
          <p:cNvSpPr/>
          <p:nvPr/>
        </p:nvSpPr>
        <p:spPr>
          <a:xfrm>
            <a:off x="548640" y="4343400"/>
            <a:ext cx="3535680" cy="292608"/>
          </a:xfrm>
          <a:prstGeom prst="rect">
            <a:avLst/>
          </a:prstGeom>
          <a:solidFill>
            <a:srgbClr val="0B5A34"/>
          </a:solidFill>
          <a:ln/>
        </p:spPr>
      </p:sp>
      <p:sp>
        <p:nvSpPr>
          <p:cNvPr id="35" name="Shape 33"/>
          <p:cNvSpPr/>
          <p:nvPr/>
        </p:nvSpPr>
        <p:spPr>
          <a:xfrm>
            <a:off x="713232" y="4187952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713232" y="41879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5A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152144" y="4069080"/>
            <a:ext cx="280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360</a:t>
            </a:r>
            <a:endParaRPr lang="en-US" sz="1450" dirty="0"/>
          </a:p>
        </p:txBody>
      </p:sp>
      <p:sp>
        <p:nvSpPr>
          <p:cNvPr id="38" name="Text 36"/>
          <p:cNvSpPr/>
          <p:nvPr/>
        </p:nvSpPr>
        <p:spPr>
          <a:xfrm>
            <a:off x="768096" y="4782312"/>
            <a:ext cx="30967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b="1" spc="100" kern="0" dirty="0">
                <a:solidFill>
                  <a:srgbClr val="008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
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&amp; cross-sell · household rollups (Marketing)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768096" y="5623560"/>
            <a:ext cx="3096768" cy="329184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/>
        </p:spPr>
      </p:sp>
      <p:sp>
        <p:nvSpPr>
          <p:cNvPr id="40" name="Text 38"/>
          <p:cNvSpPr/>
          <p:nvPr/>
        </p:nvSpPr>
        <p:spPr>
          <a:xfrm>
            <a:off x="859536" y="5623560"/>
            <a:ext cx="2913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Solves: fragmented relationship view</a:t>
            </a:r>
            <a:endParaRPr lang="en-US" sz="880" dirty="0"/>
          </a:p>
        </p:txBody>
      </p:sp>
      <p:sp>
        <p:nvSpPr>
          <p:cNvPr id="41" name="Shape 39"/>
          <p:cNvSpPr/>
          <p:nvPr/>
        </p:nvSpPr>
        <p:spPr>
          <a:xfrm>
            <a:off x="4358640" y="4069080"/>
            <a:ext cx="35356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358640" y="4069080"/>
            <a:ext cx="3535680" cy="566928"/>
          </a:xfrm>
          <a:prstGeom prst="roundRect">
            <a:avLst>
              <a:gd name="adj" fmla="val 16129"/>
            </a:avLst>
          </a:prstGeom>
          <a:solidFill>
            <a:srgbClr val="00833E"/>
          </a:solidFill>
          <a:ln/>
        </p:spPr>
      </p:sp>
      <p:sp>
        <p:nvSpPr>
          <p:cNvPr id="43" name="Shape 41"/>
          <p:cNvSpPr/>
          <p:nvPr/>
        </p:nvSpPr>
        <p:spPr>
          <a:xfrm>
            <a:off x="4358640" y="4343400"/>
            <a:ext cx="3535680" cy="292608"/>
          </a:xfrm>
          <a:prstGeom prst="rect">
            <a:avLst/>
          </a:prstGeom>
          <a:solidFill>
            <a:srgbClr val="00833E"/>
          </a:solidFill>
          <a:ln/>
        </p:spPr>
      </p:sp>
      <p:sp>
        <p:nvSpPr>
          <p:cNvPr id="44" name="Shape 42"/>
          <p:cNvSpPr/>
          <p:nvPr/>
        </p:nvSpPr>
        <p:spPr>
          <a:xfrm>
            <a:off x="4523232" y="4187952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4523232" y="41879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83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4962144" y="4069080"/>
            <a:ext cx="280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360</a:t>
            </a:r>
            <a:endParaRPr lang="en-US" sz="1450" dirty="0"/>
          </a:p>
        </p:txBody>
      </p:sp>
      <p:sp>
        <p:nvSpPr>
          <p:cNvPr id="47" name="Text 45"/>
          <p:cNvSpPr/>
          <p:nvPr/>
        </p:nvSpPr>
        <p:spPr>
          <a:xfrm>
            <a:off x="4578096" y="4782312"/>
            <a:ext cx="30967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b="1" spc="100" kern="0" dirty="0">
                <a:solidFill>
                  <a:srgbClr val="008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
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Tolerance monitoring &amp; breach forecasting (Archer) · Verafin BSA-AML · fair lending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578096" y="5623560"/>
            <a:ext cx="3096768" cy="329184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/>
        </p:spPr>
      </p:sp>
      <p:sp>
        <p:nvSpPr>
          <p:cNvPr id="49" name="Text 47"/>
          <p:cNvSpPr/>
          <p:nvPr/>
        </p:nvSpPr>
        <p:spPr>
          <a:xfrm>
            <a:off x="4669536" y="5623560"/>
            <a:ext cx="2913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Solves: reactive → proactive · Actimize retired</a:t>
            </a:r>
            <a:endParaRPr lang="en-US" sz="880" dirty="0"/>
          </a:p>
        </p:txBody>
      </p:sp>
      <p:sp>
        <p:nvSpPr>
          <p:cNvPr id="50" name="Shape 48"/>
          <p:cNvSpPr/>
          <p:nvPr/>
        </p:nvSpPr>
        <p:spPr>
          <a:xfrm>
            <a:off x="8168640" y="4069080"/>
            <a:ext cx="35356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8168640" y="4069080"/>
            <a:ext cx="3535680" cy="566928"/>
          </a:xfrm>
          <a:prstGeom prst="roundRect">
            <a:avLst>
              <a:gd name="adj" fmla="val 16129"/>
            </a:avLst>
          </a:prstGeom>
          <a:solidFill>
            <a:srgbClr val="0B5A34"/>
          </a:solidFill>
          <a:ln/>
        </p:spPr>
      </p:sp>
      <p:sp>
        <p:nvSpPr>
          <p:cNvPr id="52" name="Shape 50"/>
          <p:cNvSpPr/>
          <p:nvPr/>
        </p:nvSpPr>
        <p:spPr>
          <a:xfrm>
            <a:off x="8168640" y="4343400"/>
            <a:ext cx="3535680" cy="292608"/>
          </a:xfrm>
          <a:prstGeom prst="rect">
            <a:avLst/>
          </a:prstGeom>
          <a:solidFill>
            <a:srgbClr val="0B5A34"/>
          </a:solidFill>
          <a:ln/>
        </p:spPr>
      </p:sp>
      <p:sp>
        <p:nvSpPr>
          <p:cNvPr id="53" name="Shape 51"/>
          <p:cNvSpPr/>
          <p:nvPr/>
        </p:nvSpPr>
        <p:spPr>
          <a:xfrm>
            <a:off x="8333232" y="4187952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4" name="Text 52"/>
          <p:cNvSpPr/>
          <p:nvPr/>
        </p:nvSpPr>
        <p:spPr>
          <a:xfrm>
            <a:off x="8333232" y="41879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5A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8772144" y="4069080"/>
            <a:ext cx="280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360</a:t>
            </a:r>
            <a:endParaRPr lang="en-US" sz="1450" dirty="0"/>
          </a:p>
        </p:txBody>
      </p:sp>
      <p:sp>
        <p:nvSpPr>
          <p:cNvPr id="56" name="Text 54"/>
          <p:cNvSpPr/>
          <p:nvPr/>
        </p:nvSpPr>
        <p:spPr>
          <a:xfrm>
            <a:off x="8388096" y="4782312"/>
            <a:ext cx="30967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b="1" spc="100" kern="0" dirty="0">
                <a:solidFill>
                  <a:srgbClr val="008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
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mix · pricing · Credit Administration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8388096" y="5623560"/>
            <a:ext cx="3096768" cy="329184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/>
        </p:spPr>
      </p:sp>
      <p:sp>
        <p:nvSpPr>
          <p:cNvPr id="58" name="Text 56"/>
          <p:cNvSpPr/>
          <p:nvPr/>
        </p:nvSpPr>
        <p:spPr>
          <a:xfrm>
            <a:off x="8479536" y="5623560"/>
            <a:ext cx="2913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Solves: product view · self-service via Genie</a:t>
            </a:r>
            <a:endParaRPr lang="en-US" sz="88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8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 ·  WHY DATABRICKS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platform capability retires a specific, documented pain point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1078992"/>
          </a:xfrm>
          <a:prstGeom prst="roundRect">
            <a:avLst>
              <a:gd name="adj" fmla="val 8475"/>
            </a:avLst>
          </a:prstGeom>
          <a:solidFill>
            <a:srgbClr val="F8FAFC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1938528"/>
            <a:ext cx="585216" cy="585216"/>
          </a:xfrm>
          <a:prstGeom prst="ellipse">
            <a:avLst/>
          </a:prstGeom>
          <a:solidFill>
            <a:srgbClr val="EAF5E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084832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691640"/>
            <a:ext cx="42976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Catalog + Collibra
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governance, lineage &amp; a real data dictionary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263640" y="1691640"/>
            <a:ext cx="5440680" cy="1078992"/>
          </a:xfrm>
          <a:prstGeom prst="roundRect">
            <a:avLst>
              <a:gd name="adj" fmla="val 8475"/>
            </a:avLst>
          </a:prstGeom>
          <a:solidFill>
            <a:srgbClr val="F8FAFC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83096" y="1938528"/>
            <a:ext cx="585216" cy="585216"/>
          </a:xfrm>
          <a:prstGeom prst="ellipse">
            <a:avLst/>
          </a:prstGeom>
          <a:solidFill>
            <a:srgbClr val="EAF5E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2084832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223760" y="1691640"/>
            <a:ext cx="42976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Genie self-service (natural language)
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ad-hoc Power BI / Excel; true self-reporting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48640" y="2916936"/>
            <a:ext cx="5440680" cy="1078992"/>
          </a:xfrm>
          <a:prstGeom prst="roundRect">
            <a:avLst>
              <a:gd name="adj" fmla="val 8475"/>
            </a:avLst>
          </a:prstGeom>
          <a:solidFill>
            <a:srgbClr val="F8FAFC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768096" y="3163824"/>
            <a:ext cx="585216" cy="585216"/>
          </a:xfrm>
          <a:prstGeom prst="ellipse">
            <a:avLst/>
          </a:prstGeom>
          <a:solidFill>
            <a:srgbClr val="EAF5EF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310128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08760" y="2916936"/>
            <a:ext cx="42976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Medallion on Delta Lake
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governed source of truth; 4 silos → 1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263640" y="2916936"/>
            <a:ext cx="5440680" cy="1078992"/>
          </a:xfrm>
          <a:prstGeom prst="roundRect">
            <a:avLst>
              <a:gd name="adj" fmla="val 8475"/>
            </a:avLst>
          </a:prstGeom>
          <a:solidFill>
            <a:srgbClr val="F8FAFC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483096" y="3163824"/>
            <a:ext cx="585216" cy="585216"/>
          </a:xfrm>
          <a:prstGeom prst="ellipse">
            <a:avLst/>
          </a:prstGeom>
          <a:solidFill>
            <a:srgbClr val="EAF5EF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3310128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223760" y="2916936"/>
            <a:ext cx="42976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Photon performance
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deep-history (2+ yr) &amp; complex queries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548640" y="4142232"/>
            <a:ext cx="5440680" cy="1078992"/>
          </a:xfrm>
          <a:prstGeom prst="roundRect">
            <a:avLst>
              <a:gd name="adj" fmla="val 8475"/>
            </a:avLst>
          </a:prstGeom>
          <a:solidFill>
            <a:srgbClr val="F8FAFC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768096" y="4389120"/>
            <a:ext cx="585216" cy="585216"/>
          </a:xfrm>
          <a:prstGeom prst="ellipse">
            <a:avLst/>
          </a:prstGeom>
          <a:solidFill>
            <a:srgbClr val="EAF5EF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535424"/>
            <a:ext cx="292608" cy="29260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508760" y="4142232"/>
            <a:ext cx="42976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Metadata-driven onboarding
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shrinks the 2–3 week field / source cycle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6263640" y="4142232"/>
            <a:ext cx="5440680" cy="1078992"/>
          </a:xfrm>
          <a:prstGeom prst="roundRect">
            <a:avLst>
              <a:gd name="adj" fmla="val 8475"/>
            </a:avLst>
          </a:prstGeom>
          <a:solidFill>
            <a:srgbClr val="F8FAFC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6483096" y="4389120"/>
            <a:ext cx="585216" cy="585216"/>
          </a:xfrm>
          <a:prstGeom prst="ellipse">
            <a:avLst/>
          </a:prstGeom>
          <a:solidFill>
            <a:srgbClr val="EAF5EF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9400" y="4535424"/>
            <a:ext cx="292608" cy="29260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223760" y="4142232"/>
            <a:ext cx="42976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rationalization
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 SSIS · Tabular · SSRS portal · Actimize</a:t>
            </a:r>
            <a:endParaRPr lang="en-US" sz="1300" dirty="0"/>
          </a:p>
        </p:txBody>
      </p:sp>
      <p:sp>
        <p:nvSpPr>
          <p:cNvPr id="28" name="Shape 20"/>
          <p:cNvSpPr/>
          <p:nvPr/>
        </p:nvSpPr>
        <p:spPr>
          <a:xfrm>
            <a:off x="548640" y="5367528"/>
            <a:ext cx="5440680" cy="1078992"/>
          </a:xfrm>
          <a:prstGeom prst="roundRect">
            <a:avLst>
              <a:gd name="adj" fmla="val 8475"/>
            </a:avLst>
          </a:prstGeom>
          <a:solidFill>
            <a:srgbClr val="F8FAFC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768096" y="5614416"/>
            <a:ext cx="585216" cy="585216"/>
          </a:xfrm>
          <a:prstGeom prst="ellipse">
            <a:avLst/>
          </a:prstGeom>
          <a:solidFill>
            <a:srgbClr val="EAF5EF"/>
          </a:solidFill>
          <a:ln/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5760720"/>
            <a:ext cx="292608" cy="292608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508760" y="5367528"/>
            <a:ext cx="42976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&amp; GenAI foundations
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forecasting, propensity, anomaly detection</a:t>
            </a:r>
            <a:endParaRPr lang="en-US" sz="1300" dirty="0"/>
          </a:p>
        </p:txBody>
      </p:sp>
      <p:sp>
        <p:nvSpPr>
          <p:cNvPr id="32" name="Shape 23"/>
          <p:cNvSpPr/>
          <p:nvPr/>
        </p:nvSpPr>
        <p:spPr>
          <a:xfrm>
            <a:off x="6263640" y="5367528"/>
            <a:ext cx="5440680" cy="1078992"/>
          </a:xfrm>
          <a:prstGeom prst="roundRect">
            <a:avLst>
              <a:gd name="adj" fmla="val 8475"/>
            </a:avLst>
          </a:prstGeom>
          <a:solidFill>
            <a:srgbClr val="F8FAFC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33" name="Shape 24"/>
          <p:cNvSpPr/>
          <p:nvPr/>
        </p:nvSpPr>
        <p:spPr>
          <a:xfrm>
            <a:off x="6483096" y="5614416"/>
            <a:ext cx="585216" cy="585216"/>
          </a:xfrm>
          <a:prstGeom prst="ellipse">
            <a:avLst/>
          </a:prstGeom>
          <a:solidFill>
            <a:srgbClr val="EAF5EF"/>
          </a:solidFill>
          <a:ln/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29400" y="5760720"/>
            <a:ext cx="292608" cy="292608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7223760" y="5367528"/>
            <a:ext cx="42976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lakehouse compute
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grows with the data; future-proof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8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 ·  BUSINESS OUTCOMES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Documented problems, the Databricks solution, and the outcome for the business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1234440"/>
          </a:xfrm>
          <a:prstGeom prst="roundRect">
            <a:avLst>
              <a:gd name="adj" fmla="val 8889"/>
            </a:avLst>
          </a:prstGeom>
          <a:solidFill>
            <a:srgbClr val="0B3D2E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993392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920" y="1645920"/>
            <a:ext cx="9784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Archer — proactive risk management, not reactive reporting
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F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pane for risk &amp; compliance stakeholders to monitor whether risk metrics are within tolerance, spot deteriorating trends, and forecast where breaches are likely.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3154680"/>
            <a:ext cx="11064240" cy="420624"/>
          </a:xfrm>
          <a:prstGeom prst="rect">
            <a:avLst/>
          </a:prstGeom>
          <a:solidFill>
            <a:srgbClr val="00833E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3154680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663440" y="3154680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SOLUTION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595360" y="3154680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31520" y="3575304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unproven; no dictionary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663440" y="3575304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Catalog + Collibra governance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595360" y="3575304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stakeholders can trust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" y="4142232"/>
            <a:ext cx="11064240" cy="56692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5" name="Text 12"/>
          <p:cNvSpPr/>
          <p:nvPr/>
        </p:nvSpPr>
        <p:spPr>
          <a:xfrm>
            <a:off x="731520" y="414223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EDW vs Azure Gold confusion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663440" y="414223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Medallion single source of truth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595360" y="4142232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sanctioned source of truth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31520" y="470916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in 4 silos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663440" y="470916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/ Household 360 identity resolution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8595360" y="470916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customer, not four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48640" y="5276088"/>
            <a:ext cx="11064240" cy="56692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2" name="Text 19"/>
          <p:cNvSpPr/>
          <p:nvPr/>
        </p:nvSpPr>
        <p:spPr>
          <a:xfrm>
            <a:off x="731520" y="5276088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wk field changes; no self-service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663440" y="5276088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onboarding + Genie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595360" y="527608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changes, governed self-service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731520" y="584301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SSIS / Tabular / Gold not scalable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663440" y="584301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lakehouse + Photon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8595360" y="5843016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Scalable, performant platform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8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 ·  PRIORITIES, CAPACITY &amp; ACCELERATION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focus sits today — and what more people would unlock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611880" cy="3657600"/>
          </a:xfrm>
          <a:prstGeom prst="roundRect">
            <a:avLst>
              <a:gd name="adj" fmla="val 2532"/>
            </a:avLst>
          </a:prstGeom>
          <a:solidFill>
            <a:srgbClr val="F1F5F4"/>
          </a:solidFill>
          <a:ln w="15875">
            <a:solidFill>
              <a:srgbClr val="CBD5C9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943100" y="2240280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4268" y="2441448"/>
            <a:ext cx="420624" cy="4206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24612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priorities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388620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2–3 priorities — to be confirmed with the team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434840" y="1783080"/>
            <a:ext cx="3611880" cy="3657600"/>
          </a:xfrm>
          <a:prstGeom prst="roundRect">
            <a:avLst>
              <a:gd name="adj" fmla="val 2532"/>
            </a:avLst>
          </a:prstGeom>
          <a:solidFill>
            <a:srgbClr val="F1F5F4"/>
          </a:solidFill>
          <a:ln w="15875">
            <a:solidFill>
              <a:srgbClr val="CBD5C9"/>
            </a:solidFill>
            <a:prstDash val="dash"/>
          </a:ln>
        </p:spPr>
      </p:sp>
      <p:sp>
        <p:nvSpPr>
          <p:cNvPr id="10" name="Shape 7"/>
          <p:cNvSpPr/>
          <p:nvPr/>
        </p:nvSpPr>
        <p:spPr>
          <a:xfrm>
            <a:off x="5829300" y="2240280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0468" y="2441448"/>
            <a:ext cx="420624" cy="4206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09160" y="324612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today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800600" y="388620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team size, composition &amp; where the bottleneck sits — to be confirmed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321040" y="1783080"/>
            <a:ext cx="3611880" cy="3657600"/>
          </a:xfrm>
          <a:prstGeom prst="roundRect">
            <a:avLst>
              <a:gd name="adj" fmla="val 2532"/>
            </a:avLst>
          </a:prstGeom>
          <a:solidFill>
            <a:srgbClr val="F1F5F4"/>
          </a:solidFill>
          <a:ln w="15875">
            <a:solidFill>
              <a:srgbClr val="CBD5C9"/>
            </a:solidFill>
            <a:prstDash val="dash"/>
          </a:ln>
        </p:spPr>
      </p:sp>
      <p:sp>
        <p:nvSpPr>
          <p:cNvPr id="15" name="Shape 11"/>
          <p:cNvSpPr/>
          <p:nvPr/>
        </p:nvSpPr>
        <p:spPr>
          <a:xfrm>
            <a:off x="9715500" y="2240280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6668" y="2441448"/>
            <a:ext cx="420624" cy="42062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95360" y="324612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Acceleration with more people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686800" y="388620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+N engineers → pull Customer / Account 360 forward (illustrative until confirmed)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 — to be completed after the priorities &amp; capacity discussion.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Enterprise Data Platform — Program Status</dc:title>
  <dc:subject>PptxGenJS Presentation</dc:subject>
  <dc:creator>Program Office</dc:creator>
  <cp:lastModifiedBy>Program Office</cp:lastModifiedBy>
  <cp:revision>1</cp:revision>
  <dcterms:created xsi:type="dcterms:W3CDTF">2026-06-30T18:10:02Z</dcterms:created>
  <dcterms:modified xsi:type="dcterms:W3CDTF">2026-06-30T18:10:02Z</dcterms:modified>
</cp:coreProperties>
</file>