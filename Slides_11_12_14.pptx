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SCOPE  ·  WHO WE SERVE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areas and lines of business the platform supports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29384"/>
            <a:ext cx="548640" cy="548640"/>
          </a:xfrm>
          <a:prstGeom prst="ellipse">
            <a:avLst/>
          </a:prstGeom>
          <a:solidFill>
            <a:srgbClr val="EAF5E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665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56032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Revenue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68096" y="2898648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Sales (Loans) · Small Business · Retail Branch Network · Investments / Brokerage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93008" y="169164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12464" y="1929384"/>
            <a:ext cx="548640" cy="548640"/>
          </a:xfrm>
          <a:prstGeom prst="ellipse">
            <a:avLst/>
          </a:prstGeom>
          <a:solidFill>
            <a:srgbClr val="EAF5E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24" y="206654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12464" y="256032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712464" y="2898648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· QC – new accounts · Regulation adherence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37376" y="169164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56832" y="1929384"/>
            <a:ext cx="548640" cy="548640"/>
          </a:xfrm>
          <a:prstGeom prst="ellipse">
            <a:avLst/>
          </a:prstGeom>
          <a:solidFill>
            <a:srgbClr val="EAF5E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206654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56832" y="256032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656832" y="2898648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BSA / AML · CIP onboarding · Cash transactions · Archer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381744" y="169164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601200" y="1929384"/>
            <a:ext cx="548640" cy="548640"/>
          </a:xfrm>
          <a:prstGeom prst="ellipse">
            <a:avLst/>
          </a:prstGeom>
          <a:solidFill>
            <a:srgbClr val="EAF5E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0" y="206654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01200" y="256032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Administration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601200" y="2898648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· Credit review · CECL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93192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68096" y="4169664"/>
            <a:ext cx="548640" cy="548640"/>
          </a:xfrm>
          <a:prstGeom prst="ellipse">
            <a:avLst/>
          </a:prstGeom>
          <a:solidFill>
            <a:srgbClr val="EAF5E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306824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8096" y="48006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768096" y="5138928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CECL · GL / finance reporting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493008" y="393192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712464" y="4169664"/>
            <a:ext cx="548640" cy="548640"/>
          </a:xfrm>
          <a:prstGeom prst="ellipse">
            <a:avLst/>
          </a:prstGeom>
          <a:solidFill>
            <a:srgbClr val="EAF5E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9624" y="4306824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712464" y="48006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3712464" y="5138928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&amp; assurance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437376" y="393192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656832" y="4169664"/>
            <a:ext cx="548640" cy="548640"/>
          </a:xfrm>
          <a:prstGeom prst="ellipse">
            <a:avLst/>
          </a:prstGeom>
          <a:solidFill>
            <a:srgbClr val="EAF5EF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992" y="4306824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656832" y="48006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6656832" y="5138928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onboarding · campaigns · cross-sell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9381744" y="393192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601200" y="4169664"/>
            <a:ext cx="548640" cy="548640"/>
          </a:xfrm>
          <a:prstGeom prst="ellipse">
            <a:avLst/>
          </a:prstGeom>
          <a:solidFill>
            <a:srgbClr val="EAF5EF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8360" y="4306824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601200" y="4800600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450" dirty="0"/>
          </a:p>
        </p:txBody>
      </p:sp>
      <p:sp>
        <p:nvSpPr>
          <p:cNvPr id="43" name="Text 33"/>
          <p:cNvSpPr/>
          <p:nvPr/>
        </p:nvSpPr>
        <p:spPr>
          <a:xfrm>
            <a:off x="9601200" y="5138928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workforce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 ·  HOW WE SUPPORT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reaches the business through raw feeds, daily access, and a static reporting portal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available by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59536" y="3474720"/>
            <a:ext cx="30449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access to daily data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reports via management portal (Commercial)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Customer-level deposit / loan / fee trending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34840" y="178308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1031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2585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2880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LOBs need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745736" y="3474720"/>
            <a:ext cx="30449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 business with data-driven decisions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info — aggregate · summarize · consolidate sources · layer business rules · trend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reporting for regulatory / business changes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321040" y="178308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95360" y="21031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0808" y="22585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2880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Reporting Portal (SSRS)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631936" y="3474720"/>
            <a:ext cx="30449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pre-built reports across business areas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by navigation — Scorecards · Customer · Loans · Deposits · Payments · Risk</a:t>
            </a:r>
            <a:endParaRPr lang="en-US" sz="115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&amp; read-only — no self-service or ad-hoc analysis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SCOPE  ·  HOW THE 360s HELP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governed 360° product serves its business area and the problems it solves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743200" y="159105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532120" y="159105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PRODUCTS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818120" y="1591056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360 HELPS THE BUSINESS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1106424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084832"/>
            <a:ext cx="2011680" cy="658368"/>
          </a:xfrm>
          <a:prstGeom prst="roundRect">
            <a:avLst>
              <a:gd name="adj" fmla="val 9722"/>
            </a:avLst>
          </a:prstGeom>
          <a:solidFill>
            <a:srgbClr val="00833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84832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1938528"/>
            <a:ext cx="2514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BSA/AML · CIP · cash txns · Archer · financial crimes (Verafin) · fair lending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5532120" y="1938528"/>
            <a:ext cx="2057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360  (+ Customer, Transaction)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7818120" y="1975104"/>
            <a:ext cx="36301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customer, account &amp; transaction data into one risk view — monitor tolerance, spot deteriorating trends, forecast breaches. Moves reactive reporting to proactive risk; consolidates financial-crimes alerts to cut false positives.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548640" y="2980944"/>
            <a:ext cx="11064240" cy="950976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127248"/>
            <a:ext cx="2011680" cy="658368"/>
          </a:xfrm>
          <a:prstGeom prst="roundRect">
            <a:avLst>
              <a:gd name="adj" fmla="val 9722"/>
            </a:avLst>
          </a:prstGeom>
          <a:solidFill>
            <a:srgbClr val="17704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27248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Administration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2980944"/>
            <a:ext cx="2514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· credit review · CECL · delinquency · watch lists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532120" y="2980944"/>
            <a:ext cx="2057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360 · Product 360  (+ Customer)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7818120" y="3017520"/>
            <a:ext cx="36301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governed borrower &amp; account view speeds underwriting and credit review, surfaces delinquency and concentration risk earlier, and gives CECL a consistent, auditable data foundation.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1106424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4169664"/>
            <a:ext cx="2011680" cy="658368"/>
          </a:xfrm>
          <a:prstGeom prst="roundRect">
            <a:avLst>
              <a:gd name="adj" fmla="val 9722"/>
            </a:avLst>
          </a:prstGeom>
          <a:solidFill>
            <a:srgbClr val="0B5A34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169664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Domains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4023360"/>
            <a:ext cx="2514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· accounts · transactions · households · products (Consumer &amp; Commercial)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5532120" y="4023360"/>
            <a:ext cx="2057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Account · Transaction · Household · Product 360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7818120" y="4059936"/>
            <a:ext cx="36301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four customer silos into one golden record — sales, marketing &amp; service share one customer/household truth, enabling cross-sell, relationship analytics and consistent Consumer &amp; Commercial reporting.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548640" y="5065776"/>
            <a:ext cx="11064240" cy="950976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5212080"/>
            <a:ext cx="2011680" cy="658368"/>
          </a:xfrm>
          <a:prstGeom prst="roundRect">
            <a:avLst>
              <a:gd name="adj" fmla="val 9722"/>
            </a:avLst>
          </a:prstGeom>
          <a:solidFill>
            <a:srgbClr val="0B3D2E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212080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0" y="5065776"/>
            <a:ext cx="2514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CECL  (in scope) · GL / finance reporting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532120" y="5065776"/>
            <a:ext cx="20574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360 · Transaction 360 · Risk 360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7818120" y="5102352"/>
            <a:ext cx="36301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governed, reconciled source for CECL allowance modeling &amp; reporting — aligns finance and risk on the same loan, account &amp; transaction data, reducing manual reconciliation and audit effort.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548640" y="6144768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0B3D2E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61447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&amp; Commercial run as separate domains on one shared single source of truth —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governed 360s serve both, and CECL is shared across Credit Admin &amp; Finance.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11 · 12 · 14</dc:title>
  <dc:subject>PptxGenJS Presentation</dc:subject>
  <dc:creator>Program Office</dc:creator>
  <cp:lastModifiedBy>Program Office</cp:lastModifiedBy>
  <cp:revision>1</cp:revision>
  <dcterms:created xsi:type="dcterms:W3CDTF">2026-06-30T19:06:15Z</dcterms:created>
  <dcterms:modified xsi:type="dcterms:W3CDTF">2026-06-30T19:06:15Z</dcterms:modified>
</cp:coreProperties>
</file>