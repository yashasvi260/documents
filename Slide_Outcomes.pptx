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 ·  BUSINESS OUTCOMES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Documented problems, the Databricks &amp; 360° solution, and the outcome for the business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0B3D2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65376"/>
            <a:ext cx="530352" cy="5303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554480"/>
            <a:ext cx="9784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 — proactive risk management, not reactive reporting
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pane for risk &amp; compliance stakeholders to monitor whether risk metrics are within tolerance, spot deteriorating trends, and forecast where breaches are likely.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3035808"/>
            <a:ext cx="11064240" cy="402336"/>
          </a:xfrm>
          <a:prstGeom prst="rect">
            <a:avLst/>
          </a:prstGeom>
          <a:solidFill>
            <a:srgbClr val="00833E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303580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273552" y="303580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SOLUTION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153912" y="303580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942832" y="303580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 PRODUCTS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13232" y="3438144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dictionary; accuracy &amp; lineage opaque</a:t>
            </a:r>
            <a:endParaRPr lang="en-US" sz="930" dirty="0"/>
          </a:p>
        </p:txBody>
      </p:sp>
      <p:sp>
        <p:nvSpPr>
          <p:cNvPr id="13" name="Text 10"/>
          <p:cNvSpPr/>
          <p:nvPr/>
        </p:nvSpPr>
        <p:spPr>
          <a:xfrm>
            <a:off x="3273552" y="3438144"/>
            <a:ext cx="2532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+ Collibra — governance, lineage, dictionary</a:t>
            </a:r>
            <a:endParaRPr lang="en-US" sz="930" dirty="0"/>
          </a:p>
        </p:txBody>
      </p:sp>
      <p:sp>
        <p:nvSpPr>
          <p:cNvPr id="14" name="Text 11"/>
          <p:cNvSpPr/>
          <p:nvPr/>
        </p:nvSpPr>
        <p:spPr>
          <a:xfrm>
            <a:off x="6153912" y="3438144"/>
            <a:ext cx="2441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stakeholders can trust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942832" y="3438144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3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360s (certified)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548640" y="3968496"/>
            <a:ext cx="11064240" cy="53035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Text 14"/>
          <p:cNvSpPr/>
          <p:nvPr/>
        </p:nvSpPr>
        <p:spPr>
          <a:xfrm>
            <a:off x="713232" y="3968496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“truths”; unclear which source is correct</a:t>
            </a:r>
            <a:endParaRPr lang="en-US" sz="930" dirty="0"/>
          </a:p>
        </p:txBody>
      </p:sp>
      <p:sp>
        <p:nvSpPr>
          <p:cNvPr id="18" name="Text 15"/>
          <p:cNvSpPr/>
          <p:nvPr/>
        </p:nvSpPr>
        <p:spPr>
          <a:xfrm>
            <a:off x="3273552" y="3968496"/>
            <a:ext cx="2532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— one governed source of truth</a:t>
            </a:r>
            <a:endParaRPr lang="en-US" sz="930" dirty="0"/>
          </a:p>
        </p:txBody>
      </p:sp>
      <p:sp>
        <p:nvSpPr>
          <p:cNvPr id="19" name="Text 16"/>
          <p:cNvSpPr/>
          <p:nvPr/>
        </p:nvSpPr>
        <p:spPr>
          <a:xfrm>
            <a:off x="6153912" y="3968496"/>
            <a:ext cx="2441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sanctioned source per domain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942832" y="3968496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3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· Account · Transaction 360</a:t>
            </a:r>
            <a:endParaRPr lang="en-US" sz="930" dirty="0"/>
          </a:p>
        </p:txBody>
      </p:sp>
      <p:sp>
        <p:nvSpPr>
          <p:cNvPr id="21" name="Text 18"/>
          <p:cNvSpPr/>
          <p:nvPr/>
        </p:nvSpPr>
        <p:spPr>
          <a:xfrm>
            <a:off x="713232" y="4498848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siloed; joining is manual &amp; brittle</a:t>
            </a:r>
            <a:endParaRPr lang="en-US" sz="930" dirty="0"/>
          </a:p>
        </p:txBody>
      </p:sp>
      <p:sp>
        <p:nvSpPr>
          <p:cNvPr id="22" name="Text 19"/>
          <p:cNvSpPr/>
          <p:nvPr/>
        </p:nvSpPr>
        <p:spPr>
          <a:xfrm>
            <a:off x="3273552" y="4498848"/>
            <a:ext cx="2532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model + identity resolution</a:t>
            </a:r>
            <a:endParaRPr lang="en-US" sz="930" dirty="0"/>
          </a:p>
        </p:txBody>
      </p:sp>
      <p:sp>
        <p:nvSpPr>
          <p:cNvPr id="23" name="Text 20"/>
          <p:cNvSpPr/>
          <p:nvPr/>
        </p:nvSpPr>
        <p:spPr>
          <a:xfrm>
            <a:off x="6153912" y="4498848"/>
            <a:ext cx="2441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customer, household &amp; risk picture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8942832" y="4498848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3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· Household · Risk 360</a:t>
            </a:r>
            <a:endParaRPr lang="en-US" sz="930" dirty="0"/>
          </a:p>
        </p:txBody>
      </p:sp>
      <p:sp>
        <p:nvSpPr>
          <p:cNvPr id="25" name="Shape 22"/>
          <p:cNvSpPr/>
          <p:nvPr/>
        </p:nvSpPr>
        <p:spPr>
          <a:xfrm>
            <a:off x="548640" y="5029200"/>
            <a:ext cx="11064240" cy="53035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Text 23"/>
          <p:cNvSpPr/>
          <p:nvPr/>
        </p:nvSpPr>
        <p:spPr>
          <a:xfrm>
            <a:off x="713232" y="5029200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adds take weeks; new sources take months</a:t>
            </a:r>
            <a:endParaRPr lang="en-US" sz="930" dirty="0"/>
          </a:p>
        </p:txBody>
      </p:sp>
      <p:sp>
        <p:nvSpPr>
          <p:cNvPr id="27" name="Text 24"/>
          <p:cNvSpPr/>
          <p:nvPr/>
        </p:nvSpPr>
        <p:spPr>
          <a:xfrm>
            <a:off x="3273552" y="5029200"/>
            <a:ext cx="2532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Metadata-driven onboarding frameworks</a:t>
            </a:r>
            <a:endParaRPr lang="en-US" sz="930" dirty="0"/>
          </a:p>
        </p:txBody>
      </p:sp>
      <p:sp>
        <p:nvSpPr>
          <p:cNvPr id="28" name="Text 25"/>
          <p:cNvSpPr/>
          <p:nvPr/>
        </p:nvSpPr>
        <p:spPr>
          <a:xfrm>
            <a:off x="6153912" y="5029200"/>
            <a:ext cx="2441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in days; reporting keeps pace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942832" y="5029200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3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360s (extensible)</a:t>
            </a:r>
            <a:endParaRPr lang="en-US" sz="930" dirty="0"/>
          </a:p>
        </p:txBody>
      </p:sp>
      <p:sp>
        <p:nvSpPr>
          <p:cNvPr id="30" name="Text 27"/>
          <p:cNvSpPr/>
          <p:nvPr/>
        </p:nvSpPr>
        <p:spPr>
          <a:xfrm>
            <a:off x="713232" y="5559552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Ungoverned Power BI / Excel sprawl; unauditable logic</a:t>
            </a:r>
            <a:endParaRPr lang="en-US" sz="930" dirty="0"/>
          </a:p>
        </p:txBody>
      </p:sp>
      <p:sp>
        <p:nvSpPr>
          <p:cNvPr id="31" name="Text 28"/>
          <p:cNvSpPr/>
          <p:nvPr/>
        </p:nvSpPr>
        <p:spPr>
          <a:xfrm>
            <a:off x="3273552" y="5559552"/>
            <a:ext cx="2532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self-service on governed data</a:t>
            </a:r>
            <a:endParaRPr lang="en-US" sz="930" dirty="0"/>
          </a:p>
        </p:txBody>
      </p:sp>
      <p:sp>
        <p:nvSpPr>
          <p:cNvPr id="32" name="Text 29"/>
          <p:cNvSpPr/>
          <p:nvPr/>
        </p:nvSpPr>
        <p:spPr>
          <a:xfrm>
            <a:off x="6153912" y="5559552"/>
            <a:ext cx="2441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KPIs; no shadow reports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8942832" y="5559552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3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360s via Genie</a:t>
            </a:r>
            <a:endParaRPr lang="en-US" sz="930" dirty="0"/>
          </a:p>
        </p:txBody>
      </p:sp>
      <p:sp>
        <p:nvSpPr>
          <p:cNvPr id="34" name="Shape 31"/>
          <p:cNvSpPr/>
          <p:nvPr/>
        </p:nvSpPr>
        <p:spPr>
          <a:xfrm>
            <a:off x="548640" y="6089904"/>
            <a:ext cx="11064240" cy="53035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5" name="Text 32"/>
          <p:cNvSpPr/>
          <p:nvPr/>
        </p:nvSpPr>
        <p:spPr>
          <a:xfrm>
            <a:off x="713232" y="6089904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SSIS / Tabular / MDS won’t scale; deep history slow</a:t>
            </a:r>
            <a:endParaRPr lang="en-US" sz="930" dirty="0"/>
          </a:p>
        </p:txBody>
      </p:sp>
      <p:sp>
        <p:nvSpPr>
          <p:cNvPr id="36" name="Text 33"/>
          <p:cNvSpPr/>
          <p:nvPr/>
        </p:nvSpPr>
        <p:spPr>
          <a:xfrm>
            <a:off x="3273552" y="6089904"/>
            <a:ext cx="2532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lakehouse + Photon</a:t>
            </a:r>
            <a:endParaRPr lang="en-US" sz="930" dirty="0"/>
          </a:p>
        </p:txBody>
      </p:sp>
      <p:sp>
        <p:nvSpPr>
          <p:cNvPr id="37" name="Text 34"/>
          <p:cNvSpPr/>
          <p:nvPr/>
        </p:nvSpPr>
        <p:spPr>
          <a:xfrm>
            <a:off x="6153912" y="6089904"/>
            <a:ext cx="2441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008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at volume; room to grow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8942832" y="6089904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3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360 · all on Databricks</a:t>
            </a:r>
            <a:endParaRPr lang="en-US" sz="9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Outcomes (rewritten)</dc:title>
  <dc:subject>PptxGenJS Presentation</dc:subject>
  <dc:creator>Program Office</dc:creator>
  <cp:lastModifiedBy>Program Office</cp:lastModifiedBy>
  <cp:revision>1</cp:revision>
  <dcterms:created xsi:type="dcterms:W3CDTF">2026-06-30T21:06:08Z</dcterms:created>
  <dcterms:modified xsi:type="dcterms:W3CDTF">2026-06-30T21:06:08Z</dcterms:modified>
</cp:coreProperties>
</file>